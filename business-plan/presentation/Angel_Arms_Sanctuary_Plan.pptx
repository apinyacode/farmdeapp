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฿</c:v>
                </c:pt>
              </c:strCache>
            </c:strRef>
          </c:tx>
          <c:spPr>
            <a:solidFill>
              <a:srgbClr val="2F6B45"/>
            </a:solidFill>
            <a:effectLst/>
          </c:spPr>
          <c:invertIfNegative val="0"/>
          <c:dLbls>
            <c:numFmt formatCode="฿#,##0,,&quot;M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B59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Land (10 rai)</c:v>
                  </c:pt>
                  <c:pt idx="1">
                    <c:v>Main stable barn (22 stalls)</c:v>
                  </c:pt>
                  <c:pt idx="2">
                    <c:v>Covered therapy arena</c:v>
                  </c:pt>
                  <c:pt idx="3">
                    <c:v>Quarantine &amp; vet clinic</c:v>
                  </c:pt>
                  <c:pt idx="4">
                    <c:v>Site prep &amp; infrastructure</c:v>
                  </c:pt>
                  <c:pt idx="5">
                    <c:v>Initial horse intake (15 horses)</c:v>
                  </c:pt>
                  <c:pt idx="6">
                    <c:v>Admin/reception office</c:v>
                  </c:pt>
                  <c:pt idx="7">
                    <c:v>Equipment &amp; vehicles</c:v>
                  </c:pt>
                  <c:pt idx="8">
                    <c:v>Fencing</c:v>
                  </c:pt>
                  <c:pt idx="9">
                    <c:v>Contingency + legal</c:v>
                  </c:pt>
                  <c:pt idx="10">
                    <c:v>Pasture establishment</c:v>
                  </c:pt>
                  <c:pt idx="11">
                    <c:v>Working capital reserve</c:v>
                  </c:pt>
                  <c:pt idx="12">
                    <c:v>Staff housing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23000000</c:v>
                </c:pt>
                <c:pt idx="1">
                  <c:v>13000000</c:v>
                </c:pt>
                <c:pt idx="2">
                  <c:v>4500000</c:v>
                </c:pt>
                <c:pt idx="3">
                  <c:v>2900000</c:v>
                </c:pt>
                <c:pt idx="4">
                  <c:v>2500000</c:v>
                </c:pt>
                <c:pt idx="5">
                  <c:v>2200000</c:v>
                </c:pt>
                <c:pt idx="6">
                  <c:v>1800000</c:v>
                </c:pt>
                <c:pt idx="7">
                  <c:v>1500000</c:v>
                </c:pt>
                <c:pt idx="8">
                  <c:v>1500000</c:v>
                </c:pt>
                <c:pt idx="9">
                  <c:v>1200000</c:v>
                </c:pt>
                <c:pt idx="10">
                  <c:v>900000</c:v>
                </c:pt>
                <c:pt idx="11">
                  <c:v>800000</c:v>
                </c:pt>
                <c:pt idx="12">
                  <c:v>600000</c:v>
                </c:pt>
              </c:numCache>
            </c:numRef>
          </c:val>
        </c:ser>
        <c:dLbls>
          <c:numFmt formatCode="฿#,##0,,&quot;M&quot;" sourceLinked="0"/>
          <c:txPr>
            <a:bodyPr/>
            <a:lstStyle/>
            <a:p>
              <a:pPr>
                <a:defRPr b="0" i="0" strike="noStrike" sz="900" u="none">
                  <a:solidFill>
                    <a:srgbClr val="5B59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8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Sanctuary net</c:v>
                </c:pt>
              </c:strCache>
            </c:strRef>
          </c:tx>
          <c:spPr>
            <a:solidFill>
              <a:srgbClr val="C24A78"/>
            </a:solidFill>
            <a:ln w="31750" cap="flat">
              <a:solidFill>
                <a:srgbClr val="C24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4A78"/>
              </a:solidFill>
              <a:ln w="9525" cap="flat">
                <a:solidFill>
                  <a:srgbClr val="C24A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-2322400</c:v>
                </c:pt>
                <c:pt idx="1">
                  <c:v>-2183520</c:v>
                </c:pt>
                <c:pt idx="2">
                  <c:v>-2114480</c:v>
                </c:pt>
                <c:pt idx="3">
                  <c:v>-1825120</c:v>
                </c:pt>
                <c:pt idx="4">
                  <c:v>-1695600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Community amenities net</c:v>
                </c:pt>
              </c:strCache>
            </c:strRef>
          </c:tx>
          <c:spPr>
            <a:solidFill>
              <a:srgbClr val="8B5A2B"/>
            </a:solidFill>
            <a:ln w="31750" cap="flat">
              <a:solidFill>
                <a:srgbClr val="8B5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A2B"/>
              </a:solidFill>
              <a:ln w="9525" cap="flat">
                <a:solidFill>
                  <a:srgbClr val="8B5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21800</c:v>
                </c:pt>
                <c:pt idx="1">
                  <c:v>483240</c:v>
                </c:pt>
                <c:pt idx="2">
                  <c:v>903000</c:v>
                </c:pt>
                <c:pt idx="3">
                  <c:v>1090400</c:v>
                </c:pt>
                <c:pt idx="4">
                  <c:v>1131360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net</c:v>
                </c:pt>
              </c:strCache>
            </c:strRef>
          </c:tx>
          <c:spPr>
            <a:solidFill>
              <a:srgbClr val="2F6B45"/>
            </a:solidFill>
            <a:ln w="31750" cap="flat">
              <a:solidFill>
                <a:srgbClr val="2F6B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6B45"/>
              </a:solidFill>
              <a:ln w="9525" cap="flat">
                <a:solidFill>
                  <a:srgbClr val="2F6B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-2300600</c:v>
                </c:pt>
                <c:pt idx="1">
                  <c:v>-1700280</c:v>
                </c:pt>
                <c:pt idx="2">
                  <c:v>-1211480</c:v>
                </c:pt>
                <c:pt idx="3">
                  <c:v>-734720</c:v>
                </c:pt>
                <c:pt idx="4">
                  <c:v>-564240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DFCF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28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DFCF"/>
              </a:solidFill>
              <a:prstDash val="solid"/>
              <a:round/>
            </a:ln>
          </c:spPr>
        </c:majorGridlines>
        <c:numFmt formatCode="฿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76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594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2103120"/>
            <a:ext cx="5486400" cy="54864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22960"/>
            <a:ext cx="777240" cy="77724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5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815" y="1032815"/>
            <a:ext cx="357530" cy="3575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8961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มูลนิธิในอ้อมกอด  ·  THE ANGEL ARMS FOUNDATION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Angel Arms Horse Sanctuary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204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rescue and equine-therapy sanctuary on 10 rai in Nakhon Nayok — anchoring a 32-rai equestrian community sold off-plan in partnership with the land owner.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LAND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rai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5661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07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CAPITAL ASK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7307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~฿56–70M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093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739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SANCTUARY BY YEAR 5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739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horses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052560" y="4892040"/>
            <a:ext cx="0" cy="1051560"/>
          </a:xfrm>
          <a:prstGeom prst="line">
            <a:avLst/>
          </a:prstGeom>
          <a:noFill/>
          <a:ln w="12700">
            <a:solidFill>
              <a:srgbClr val="3E5F4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7152" y="4892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FC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 THERAPY /YR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217152" y="5184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Apinya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property, two very different financial jobs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DCE6D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658368" cy="65836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6" name="Image 0" descr="/tmp/claude-0/-home-user-FarmDeApp/6acb5467-a921-52c6-8401-d505f26136ca/scratchpad/pptx_assets/ho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439" y="2052279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RAI · YOURS TO FUND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17627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Sanctuary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8892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The Angel Arms Foundation — an existing foundation.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Rescue, rehabilitation, and equine-assisted therapy for special-needs children.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mission program, not a profit center — runs on donations, CSR, and grants.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" y="4343400"/>
            <a:ext cx="4617720" cy="0"/>
          </a:xfrm>
          <a:prstGeom prst="line">
            <a:avLst/>
          </a:prstGeom>
          <a:noFill/>
          <a:ln w="12700">
            <a:solidFill>
              <a:srgbClr val="C3D6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CAPITAL NEED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~฿56.4M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6126480" y="15544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EFE3D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46520" y="1874520"/>
            <a:ext cx="658368" cy="65836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6" name="Image 1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279" y="2052279"/>
            <a:ext cx="302849" cy="30284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269480" y="19202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RAI · OWNER-FINANCED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217627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Community</a:t>
            </a:r>
            <a:endParaRPr lang="en-US" sz="24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plots sold to horse-owning families. The owner keeps the deed and transfers title directly to each buyer, in step with the payment plan.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36576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 pay for itself — not a source of profit to lean on.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46520" y="4343400"/>
            <a:ext cx="4617720" cy="0"/>
          </a:xfrm>
          <a:prstGeom prst="line">
            <a:avLst/>
          </a:prstGeom>
          <a:noFill/>
          <a:ln w="12700">
            <a:solidFill>
              <a:srgbClr val="DDCBA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COST TO YOU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฿0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Anchoring welfare, therapy, and community in one place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leading horse welfare and equine-therapy program in the Khao Yai–Nakhon Nayok region — and the flagship program of The Angel Arms Foundation.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035040" y="1600200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7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8111" y="1753271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12280" y="158191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Rescue &amp; rehabilitate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1892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Lifelong care for retired and injured horses.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651760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1" name="Image 1" descr="/tmp/claude-0/-home-user-FarmDeApp/6acb5467-a921-52c6-8401-d505f26136ca/scratchpad/pptx_assets/chi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111" y="280483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12280" y="263347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Equine-assisted therapy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294436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special-needs children and families the Foundation already serves.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3703320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5" name="Image 2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111" y="3856391"/>
            <a:ext cx="260787" cy="26078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368503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community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399592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resident network of horse-owning families that funds itself.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35040" y="4754880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9" name="Image 3" descr="/tmp/claude-0/-home-user-FarmDeApp/6acb5467-a921-52c6-8401-d505f26136ca/scratchpad/pptx_assets/seedl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111" y="490795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473659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Educate &amp; train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812280" y="50474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and life-skills opportunities through sanctuary operations.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linked pieces, three financial jobs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DCE6D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6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1989277"/>
            <a:ext cx="273406" cy="2734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Angel Arms Foundation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10-rai sanctuary and its mission: rescue, therapy, donor &amp; grant relationships. No new charity registration needed.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069080" y="33375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288536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FE3D3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828800"/>
            <a:ext cx="594360" cy="594360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3" name="Image 1" descr="/tmp/claude-0/-home-user-FarmDeApp/6acb5467-a921-52c6-8401-d505f26136ca/scratchpad/pptx_asset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333" y="1989277"/>
            <a:ext cx="273406" cy="27340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62856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PARTNERSHIP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62856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Land-development / sales entity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62856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with the land owner, who retains the deed on the 32 rai and transfers title directly to each buyer in step with the payment plan.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7808976" y="33375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8028432" y="15544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6E3EA"/>
          </a:solidFill>
          <a:ln/>
        </p:spPr>
      </p:sp>
      <p:sp>
        <p:nvSpPr>
          <p:cNvPr id="19" name="Shape 15"/>
          <p:cNvSpPr/>
          <p:nvPr/>
        </p:nvSpPr>
        <p:spPr>
          <a:xfrm>
            <a:off x="8302752" y="1828800"/>
            <a:ext cx="594360" cy="59436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0" name="Image 2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229" y="1989277"/>
            <a:ext cx="273406" cy="27340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02752" y="2560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C24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8346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Community-amenities company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8302752" y="3657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café, shared glamping/EV/villa, and collects HOA-style fees — its surplus can subsidize the sanctuary's deficit.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5760720"/>
            <a:ext cx="10698480" cy="658368"/>
          </a:xfrm>
          <a:prstGeom prst="roundRect">
            <a:avLst>
              <a:gd name="adj" fmla="val 8333"/>
            </a:avLst>
          </a:prstGeom>
          <a:solidFill>
            <a:srgbClr val="FBF3E9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7240" y="576072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writing: </a:t>
            </a:r>
            <a:pPr indent="0" marL="0">
              <a:buNone/>
            </a:pPr>
            <a:r>
              <a:rPr lang="en-US" sz="12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milestone-satisfaction mechanics, shortfall consequences, and which party is the seller of record for resale tax purposes.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&amp; LAND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Nakhon Nayok, adjacent to Farm De Lek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5" name="Image 0" descr="/tmp/claude-0/-home-user-FarmDeApp/6acb5467-a921-52c6-8401-d505f26136ca/scratchpad/pptx_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428" y="173598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819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562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Nakhon Nayok — ~105 km / 1.5–2 hrs from Bangkok, on the edge of the Khao Yai tourism corridor.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9" name="Image 1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8" y="2787548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6334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9077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next to Farm De Lek, an established farm attraction — shared visibility and cross-promotion potential.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3" name="Image 2" descr="/tmp/claude-0/-home-user-FarmDeApp/6acb5467-a921-52c6-8401-d505f26136ca/scratchpad/pptx_assets/check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" y="3839108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685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9593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documents show a narrow, elongated parcel with public-road frontage. Formal re-survey still required.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26480" y="1600200"/>
            <a:ext cx="5486400" cy="4343400"/>
          </a:xfrm>
          <a:prstGeom prst="roundRect">
            <a:avLst>
              <a:gd name="adj" fmla="val 1684"/>
            </a:avLst>
          </a:prstGeom>
          <a:solidFill>
            <a:srgbClr val="DCE6DA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40080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BEFORE PURCHASE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0" y="21488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area/boundaries via licensed surveyor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status of the road-access easement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10-rai / 32-rai parcel split, before or at purchase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rights/access for pasture irrigation &amp; pond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✦"/>
            </a:pPr>
            <a:r>
              <a:rPr lang="en-US" sz="13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elevation data — floating structures are planned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MASTER PLAN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fits on each parcel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10-RAI SANCTUARY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rai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1947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stable barn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stalls, tack/feed room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71576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&amp; vet clinic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0815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assessment and rehab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557016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36301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therapy arena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All-weather lessons &amp; sessions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398264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398264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rai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471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Multi-terrain pasture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7640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zones: grazing &amp; rehab cells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5239512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5EE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239512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rai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53126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access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28800" y="5605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Reception, parking, road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32-RAI RESIDENTIAL DEVELOPMENT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7452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7F1E7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187452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~27 rai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1947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titled plots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43800" y="2240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rai each, sold to horse-owning families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2715768"/>
            <a:ext cx="5394960" cy="1051560"/>
          </a:xfrm>
          <a:prstGeom prst="roundRect">
            <a:avLst>
              <a:gd name="adj" fmla="val 5217"/>
            </a:avLst>
          </a:prstGeom>
          <a:solidFill>
            <a:srgbClr val="F7F1E7"/>
          </a:solidFill>
          <a:ln w="12700">
            <a:solidFill>
              <a:srgbClr val="E8D9B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2715768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rai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54380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Communal zone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43800" y="30815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Clubhouse/café, 3 shared glamping units, 4 EV sites, 1 floating villa, estate roads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SERVICES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programs vs. community amenities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SANCTUARY · FOUNDATION, MISSION-FUNDED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tour / horse encounter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฿300/person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Riding lessons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฿700/session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Equine-assisted therapy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Sponsor/grant-funded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 sponsorship/adoption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฿500–2,000/mo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63640" y="1554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AMENITIES · OPERATING COMPANY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Café &amp; clubhouse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community-scale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glamping (3 units)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฿2,500/night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EV camping (4 sites)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฿800/night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Floating villa (1 unit)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฿4,500/night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Common-area (HOA) fee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฿30,000/plot/yr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sanctuary is the differentiator, not price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equine-therapy + rescue story is distinctive in Thailand's mostly elephant-focused animal-welfare tourism. Thai horse-owning families want land near an established equestrian facility — the sanctuary is the anchor amenity that makes these plots more attractive than raw land.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7" name="Image 0" descr="/tmp/claude-0/-home-user-FarmDeApp/6acb5467-a921-52c6-8401-d505f26136ca/scratchpad/pptx_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8951" y="31523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Horse-owning families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land with shared equestrian infrastructure — the primary near-term transaction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98064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EFE3D3"/>
          </a:solidFill>
          <a:ln/>
        </p:spPr>
      </p:sp>
      <p:sp>
        <p:nvSpPr>
          <p:cNvPr id="11" name="Shape 8"/>
          <p:cNvSpPr/>
          <p:nvPr/>
        </p:nvSpPr>
        <p:spPr>
          <a:xfrm>
            <a:off x="3575304" y="2999232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12" name="Image 1" descr="/tmp/claude-0/-home-user-FarmDeApp/6acb5467-a921-52c6-8401-d505f26136ca/scratchpad/pptx_assets/co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75" y="3152303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35224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CSR / grant-makers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the therapy program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47488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16" name="Shape 12"/>
          <p:cNvSpPr/>
          <p:nvPr/>
        </p:nvSpPr>
        <p:spPr>
          <a:xfrm>
            <a:off x="5824728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17" name="Image 2" descr="/tmp/claude-0/-home-user-FarmDeApp/6acb5467-a921-52c6-8401-d505f26136ca/scratchpad/pptx_assets/chi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799" y="3152303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84648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&amp; hospitals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184648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families for equine-assisted therapy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296912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EFE3D3"/>
          </a:solidFill>
          <a:ln/>
        </p:spPr>
      </p:sp>
      <p:sp>
        <p:nvSpPr>
          <p:cNvPr id="21" name="Shape 16"/>
          <p:cNvSpPr/>
          <p:nvPr/>
        </p:nvSpPr>
        <p:spPr>
          <a:xfrm>
            <a:off x="8074152" y="2999232"/>
            <a:ext cx="566928" cy="566928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22" name="Image 3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223" y="3152303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34072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Foundation donors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434072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audience for horse sponsorship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546336" y="2743200"/>
            <a:ext cx="2121408" cy="2651760"/>
          </a:xfrm>
          <a:prstGeom prst="roundRect">
            <a:avLst>
              <a:gd name="adj" fmla="val 3448"/>
            </a:avLst>
          </a:prstGeom>
          <a:solidFill>
            <a:srgbClr val="DCE6DA"/>
          </a:solidFill>
          <a:ln/>
        </p:spPr>
      </p:sp>
      <p:sp>
        <p:nvSpPr>
          <p:cNvPr id="26" name="Shape 20"/>
          <p:cNvSpPr/>
          <p:nvPr/>
        </p:nvSpPr>
        <p:spPr>
          <a:xfrm>
            <a:off x="10323576" y="2999232"/>
            <a:ext cx="566928" cy="566928"/>
          </a:xfrm>
          <a:prstGeom prst="ellipse">
            <a:avLst/>
          </a:prstGeom>
          <a:solidFill>
            <a:srgbClr val="2F6B45"/>
          </a:solidFill>
          <a:ln/>
        </p:spPr>
      </p:sp>
      <p:pic>
        <p:nvPicPr>
          <p:cNvPr id="27" name="Image 4" descr="/tmp/claude-0/-home-user-FarmDeApp/6acb5467-a921-52c6-8401-d505f26136ca/scratchpad/pptx_assets/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6647" y="3152303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83496" y="374904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 De Lek visitors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9683496" y="425196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cross-sell for sanctuary tours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payments — only ฿23M is your capital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55448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funds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8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land deposit (10 rai)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฿6,000,000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Sanctuary land balance (10 rai)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฿17,000,000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1/6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2/6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3/6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4/6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5/6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32-rai installment 6/6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฿12,266,667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08760"/>
            <a:ext cx="3456432" cy="4434840"/>
          </a:xfrm>
          <a:prstGeom prst="roundRect">
            <a:avLst>
              <a:gd name="adj" fmla="val 2116"/>
            </a:avLst>
          </a:prstGeom>
          <a:solidFill>
            <a:srgbClr val="F6E3EA"/>
          </a:solidFill>
          <a:ln/>
        </p:spPr>
      </p:sp>
      <p:sp>
        <p:nvSpPr>
          <p:cNvPr id="6" name="Shape 3"/>
          <p:cNvSpPr/>
          <p:nvPr/>
        </p:nvSpPr>
        <p:spPr>
          <a:xfrm>
            <a:off x="8458200" y="1783080"/>
            <a:ext cx="548640" cy="54864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7" name="Image 0" descr="/tmp/claude-0/-home-user-FarmDeApp/6acb5467-a921-52c6-8401-d505f26136ca/scratchpad/pptx_asset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3" y="1931213"/>
            <a:ext cx="252374" cy="25237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58200" y="2423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24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458200" y="2724912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only direct land obligation is the ฿23M sanctuary line. The 32-rai schedule is a pass-through — the owner transfers each deed once buyer payments satisfy that milestone.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8A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to manage is sales pace, not a cash gap — get shortfall terms explicit in the partnership contract.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capital requirement — the real ask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6304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82712" y="159105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SANCTUARY CAPITAL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7982712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฿56.4M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818120" y="269748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82712" y="282549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IS LAND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982712" y="308152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฿23.0M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7818120" y="3931920"/>
            <a:ext cx="3822192" cy="1051560"/>
          </a:xfrm>
          <a:prstGeom prst="roundRect">
            <a:avLst>
              <a:gd name="adj" fmla="val 6957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982712" y="405993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IS CONSTRUCTION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982712" y="431596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฿33.4M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7818120" y="5166360"/>
            <a:ext cx="3822192" cy="914400"/>
          </a:xfrm>
          <a:prstGeom prst="roundRect">
            <a:avLst>
              <a:gd name="adj" fmla="val 8000"/>
            </a:avLst>
          </a:prstGeom>
          <a:solidFill>
            <a:srgbClr val="F6E3E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51663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piece that's really yours to raise.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III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32-rai development — self-funding, not a profit center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revenue (27 rai × ฿3.5M)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฿94,500,000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55448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collect from buyers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128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Owner's land share (pass-through)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128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A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(฿73,600,000)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21284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your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7F5EE"/>
          </a:solidFill>
          <a:ln w="15875">
            <a:solidFill>
              <a:srgbClr val="E4DF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8712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gross margin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8712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F6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฿20,900,000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87121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2958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Roads, utilities, communal build (7 items)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5295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(฿13,800,000)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52958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187952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4DF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8795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Marketing, transfer fee, SBT (est.)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879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A87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(฿6,898,500)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18795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deducted from proceeds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7406640" cy="566928"/>
          </a:xfrm>
          <a:prstGeom prst="roundRect">
            <a:avLst>
              <a:gd name="adj" fmla="val 8065"/>
            </a:avLst>
          </a:prstGeom>
          <a:solidFill>
            <a:srgbClr val="F7F5EE"/>
          </a:solidFill>
          <a:ln w="15875">
            <a:solidFill>
              <a:srgbClr val="E4DF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8463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8463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C24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฿201,500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84632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183880" y="1554480"/>
            <a:ext cx="3456432" cy="4343400"/>
          </a:xfrm>
          <a:prstGeom prst="roundRect">
            <a:avLst>
              <a:gd name="adj" fmla="val 2116"/>
            </a:avLst>
          </a:prstGeom>
          <a:solidFill>
            <a:srgbClr val="EFE3D3"/>
          </a:solidFill>
          <a:ln/>
        </p:spPr>
      </p:sp>
      <p:sp>
        <p:nvSpPr>
          <p:cNvPr id="29" name="Shape 27"/>
          <p:cNvSpPr/>
          <p:nvPr/>
        </p:nvSpPr>
        <p:spPr>
          <a:xfrm>
            <a:off x="8458200" y="1828800"/>
            <a:ext cx="548640" cy="548640"/>
          </a:xfrm>
          <a:prstGeom prst="ellipse">
            <a:avLst/>
          </a:prstGeom>
          <a:solidFill>
            <a:srgbClr val="8B5A2B"/>
          </a:solidFill>
          <a:ln/>
        </p:spPr>
      </p:sp>
      <p:pic>
        <p:nvPicPr>
          <p:cNvPr id="30" name="Image 0" descr="/tmp/claude-0/-home-user-FarmDeApp/6acb5467-a921-52c6-8401-d505f26136ca/scratchpad/pptx_asset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6333" y="1976933"/>
            <a:ext cx="252374" cy="25237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45820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~0.2% NET MARGIN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458200" y="28803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exposure is the ~฿13.8M infrastructure spend — ideally sequenced against buyer reservation deposits so you aren't fronting it.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4343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B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piece is a community-building tool, not a profit engine.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 · IV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Post-launch outlook — a normal nonprofit deficit, narrowing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463040"/>
            <a:ext cx="3364992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39912" y="159105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COMBINED DEFICIT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8439912" y="184708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24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(฿2.30M)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75320" y="2971800"/>
            <a:ext cx="3364992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F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39912" y="309981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COMBINED DEFICIT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439912" y="335584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B5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(฿0.56M)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75320" y="4480560"/>
            <a:ext cx="3364992" cy="1417320"/>
          </a:xfrm>
          <a:prstGeom prst="roundRect">
            <a:avLst>
              <a:gd name="adj" fmla="val 5161"/>
            </a:avLst>
          </a:prstGeom>
          <a:solidFill>
            <a:srgbClr val="DCE6D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458200" y="448056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for ongoing fundraising of ~฿1.5–2.3M/year — normal for a rescue/therapy nonprofit.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watch, and how it's mitigated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6" name="Image 0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376" y="1914936"/>
            <a:ext cx="193487" cy="1934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sales lag the owner's milestones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shortfall terms in the partnership contract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11" name="Image 1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128" y="1914936"/>
            <a:ext cx="193487" cy="1934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fronted before deposits arrive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roads/utilities first; phase shared amenities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10144" y="1600200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11312" y="1801368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16" name="Image 2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880" y="1914936"/>
            <a:ext cx="193487" cy="1934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11312" y="237744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SBT / resale tax worse than estimated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11312" y="3017520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seller-of-record status with an accountant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1" name="Image 3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76" y="4228368"/>
            <a:ext cx="193487" cy="1934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deficit larger than projected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Foundation fundraising capacity up front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79392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80560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26" name="Image 4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128" y="4228368"/>
            <a:ext cx="193487" cy="1934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480560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damage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80560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flood-elevation data before finalizing placement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10144" y="3913632"/>
            <a:ext cx="3621024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4DFC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11312" y="4114800"/>
            <a:ext cx="420624" cy="420624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31" name="Image 5" descr="/tmp/claude-0/-home-user-FarmDeApp/6acb5467-a921-52c6-8401-d505f26136ca/scratchpad/pptx_assets/w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880" y="4228368"/>
            <a:ext cx="193487" cy="1934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11312" y="469087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title/subdivision issues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11312" y="5330952"/>
            <a:ext cx="3218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formal legal re-survey before signing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TIMELINE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phases from due diligence to steady state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54480" y="2834640"/>
            <a:ext cx="9052560" cy="0"/>
          </a:xfrm>
          <a:prstGeom prst="line">
            <a:avLst/>
          </a:prstGeom>
          <a:noFill/>
          <a:ln w="25400">
            <a:solidFill>
              <a:srgbClr val="E4DF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35608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Now–Sep 2026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Re-survey, flood study, legal structure, deposit terms drafted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2026–Apr 2027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land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359152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balance paid; construction begins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56632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69664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2027–Oct 2028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169664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land + subdivision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169664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milestones met from buyer proceeds; titling; infrastructure built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67144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0176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~Month 14–15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Sanctuary soft launch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80176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rescue horses arrive; therapy specialist hired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77656" y="2715768"/>
            <a:ext cx="237744" cy="237744"/>
          </a:xfrm>
          <a:prstGeom prst="ellipse">
            <a:avLst/>
          </a:prstGeom>
          <a:solidFill>
            <a:srgbClr val="2F6B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90688" y="1143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2028–2029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90688" y="13990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fills in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90688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sales close; residents move in; amenities open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488168" y="2715768"/>
            <a:ext cx="237744" cy="237744"/>
          </a:xfrm>
          <a:prstGeom prst="ellipse">
            <a:avLst/>
          </a:prstGeom>
          <a:solidFill>
            <a:srgbClr val="8B5A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0" y="31546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2–5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4107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Steady state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horse population &amp; therapy caseload; surplus subsidizes deficit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to verify before committing capital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733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partnership contract's exact terms in writing (milestones, shortfall consequences)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0487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865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a formal land re-survey, including the 10/32-rai split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11810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0998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SBT and transfer-fee treatment — and who is the seller of record — with an accountant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1304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plot-buyer deposit/installment terms that keep sales pace ahead of the owner's schedule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445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flood-elevation data for the floating-villa zone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B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2395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2–3 contractor quotes for the sanctuary buildings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234A34"/>
          </a:solidFill>
          <a:ln/>
        </p:spPr>
      </p:sp>
      <p:sp>
        <p:nvSpPr>
          <p:cNvPr id="3" name="Shape 1"/>
          <p:cNvSpPr/>
          <p:nvPr/>
        </p:nvSpPr>
        <p:spPr>
          <a:xfrm>
            <a:off x="5349240" y="1463040"/>
            <a:ext cx="914400" cy="914400"/>
          </a:xfrm>
          <a:prstGeom prst="ellipse">
            <a:avLst/>
          </a:prstGeom>
          <a:solidFill>
            <a:srgbClr val="C24A78"/>
          </a:solidFill>
          <a:ln/>
        </p:spPr>
      </p:sp>
      <p:pic>
        <p:nvPicPr>
          <p:cNvPr id="4" name="Image 0" descr="/tmp/claude-0/-home-user-FarmDeApp/6acb5467-a921-52c6-8401-d505f26136ca/scratchpad/pptx_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709928"/>
            <a:ext cx="420624" cy="420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 together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Arms Horse Sanctuary  ·  มูลนิธิในอ้อมกอด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4937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8FA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is a planning tool. All figures are planning-level estimates — verify against the partnership contract, local appraisals, contractor quotes, and legal/tax advice before committing capital.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2026-09-08T13:12:31Z</dcterms:created>
  <dcterms:modified xsi:type="dcterms:W3CDTF">2026-09-08T13:12:31Z</dcterms:modified>
</cp:coreProperties>
</file>