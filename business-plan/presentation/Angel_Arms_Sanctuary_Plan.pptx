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฿</c:v>
                </c:pt>
              </c:strCache>
            </c:strRef>
          </c:tx>
          <c:spPr>
            <a:solidFill>
              <a:srgbClr val="2F6B45"/>
            </a:solidFill>
            <a:effectLst/>
          </c:spPr>
          <c:invertIfNegative val="0"/>
          <c:dLbls>
            <c:numFmt formatCode="฿#,##0,,&quot;M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B594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Sheet1!$A$2:$A$14</c:f>
              <c:multiLvlStrCache>
                <c:ptCount val="13"/>
                <c:lvl>
                  <c:pt idx="0">
                    <c:v>Land (10 rai)</c:v>
                  </c:pt>
                  <c:pt idx="1">
                    <c:v>Main stable barn (22 stalls)</c:v>
                  </c:pt>
                  <c:pt idx="2">
                    <c:v>Covered therapy arena</c:v>
                  </c:pt>
                  <c:pt idx="3">
                    <c:v>Quarantine &amp; vet clinic (building)</c:v>
                  </c:pt>
                  <c:pt idx="4">
                    <c:v>Site prep &amp; infrastructure</c:v>
                  </c:pt>
                  <c:pt idx="5">
                    <c:v>Admin/reception office</c:v>
                  </c:pt>
                  <c:pt idx="6">
                    <c:v>Equipment &amp; vehicles</c:v>
                  </c:pt>
                  <c:pt idx="7">
                    <c:v>Fencing</c:v>
                  </c:pt>
                  <c:pt idx="8">
                    <c:v>Contingency + legal</c:v>
                  </c:pt>
                  <c:pt idx="9">
                    <c:v>Pasture establishment</c:v>
                  </c:pt>
                  <c:pt idx="10">
                    <c:v>Working capital reserve</c:v>
                  </c:pt>
                  <c:pt idx="11">
                    <c:v>Staff housing</c:v>
                  </c:pt>
                  <c:pt idx="12">
                    <c:v>Initial stable fit-out &amp; onboarding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23000000</c:v>
                </c:pt>
                <c:pt idx="1">
                  <c:v>13000000</c:v>
                </c:pt>
                <c:pt idx="2">
                  <c:v>4500000</c:v>
                </c:pt>
                <c:pt idx="3">
                  <c:v>2900000</c:v>
                </c:pt>
                <c:pt idx="4">
                  <c:v>2500000</c:v>
                </c:pt>
                <c:pt idx="5">
                  <c:v>1800000</c:v>
                </c:pt>
                <c:pt idx="6">
                  <c:v>1500000</c:v>
                </c:pt>
                <c:pt idx="7">
                  <c:v>1500000</c:v>
                </c:pt>
                <c:pt idx="8">
                  <c:v>1200000</c:v>
                </c:pt>
                <c:pt idx="9">
                  <c:v>900000</c:v>
                </c:pt>
                <c:pt idx="10">
                  <c:v>800000</c:v>
                </c:pt>
                <c:pt idx="11">
                  <c:v>600000</c:v>
                </c:pt>
                <c:pt idx="12">
                  <c:v>500000</c:v>
                </c:pt>
              </c:numCache>
            </c:numRef>
          </c:val>
        </c:ser>
        <c:dLbls>
          <c:numFmt formatCode="฿#,##0,,&quot;M&quot;" sourceLinked="0"/>
          <c:txPr>
            <a:bodyPr/>
            <a:lstStyle/>
            <a:p>
              <a:pPr>
                <a:defRPr b="0" i="0" strike="noStrike" sz="900" u="none">
                  <a:solidFill>
                    <a:srgbClr val="5B594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2281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Sanctuary net</c:v>
                </c:pt>
              </c:strCache>
            </c:strRef>
          </c:tx>
          <c:spPr>
            <a:solidFill>
              <a:srgbClr val="C24A78"/>
            </a:solidFill>
            <a:ln w="31750" cap="flat">
              <a:solidFill>
                <a:srgbClr val="C24A7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24A78"/>
              </a:solidFill>
              <a:ln w="9525" cap="flat">
                <a:solidFill>
                  <a:srgbClr val="C24A7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  <c:pt idx="3">
                    <c:v>Year 4</c:v>
                  </c:pt>
                  <c:pt idx="4">
                    <c:v>Year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320000</c:v>
                </c:pt>
                <c:pt idx="1">
                  <c:v>1692000</c:v>
                </c:pt>
                <c:pt idx="2">
                  <c:v>2818000</c:v>
                </c:pt>
                <c:pt idx="3">
                  <c:v>3812000</c:v>
                </c:pt>
                <c:pt idx="4">
                  <c:v>4470000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Community amenities net</c:v>
                </c:pt>
              </c:strCache>
            </c:strRef>
          </c:tx>
          <c:spPr>
            <a:solidFill>
              <a:srgbClr val="8B5A2B"/>
            </a:solidFill>
            <a:ln w="31750" cap="flat">
              <a:solidFill>
                <a:srgbClr val="8B5A2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8B5A2B"/>
              </a:solidFill>
              <a:ln w="9525" cap="flat">
                <a:solidFill>
                  <a:srgbClr val="8B5A2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  <c:pt idx="3">
                    <c:v>Year 4</c:v>
                  </c:pt>
                  <c:pt idx="4">
                    <c:v>Year 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21800</c:v>
                </c:pt>
                <c:pt idx="1">
                  <c:v>483240</c:v>
                </c:pt>
                <c:pt idx="2">
                  <c:v>903000</c:v>
                </c:pt>
                <c:pt idx="3">
                  <c:v>1090400</c:v>
                </c:pt>
                <c:pt idx="4">
                  <c:v>1131360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Combined net</c:v>
                </c:pt>
              </c:strCache>
            </c:strRef>
          </c:tx>
          <c:spPr>
            <a:solidFill>
              <a:srgbClr val="2F6B45"/>
            </a:solidFill>
            <a:ln w="31750" cap="flat">
              <a:solidFill>
                <a:srgbClr val="2F6B4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F6B45"/>
              </a:solidFill>
              <a:ln w="9525" cap="flat">
                <a:solidFill>
                  <a:srgbClr val="2F6B4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  <c:pt idx="3">
                    <c:v>Year 4</c:v>
                  </c:pt>
                  <c:pt idx="4">
                    <c:v>Year 5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341800</c:v>
                </c:pt>
                <c:pt idx="1">
                  <c:v>2175240</c:v>
                </c:pt>
                <c:pt idx="2">
                  <c:v>3721000</c:v>
                </c:pt>
                <c:pt idx="3">
                  <c:v>4902400</c:v>
                </c:pt>
                <c:pt idx="4">
                  <c:v>5601360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4DFCF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22281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4DFCF"/>
              </a:solidFill>
              <a:prstDash val="solid"/>
              <a:round/>
            </a:ln>
          </c:spPr>
        </c:majorGridlines>
        <c:numFmt formatCode="฿#,##0,,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876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B594A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1.png"/><Relationship Id="rId3" Type="http://schemas.openxmlformats.org/officeDocument/2006/relationships/image" Target="../media/image-13-1.png"/><Relationship Id="rId4" Type="http://schemas.openxmlformats.org/officeDocument/2006/relationships/image" Target="../media/image-13-1.png"/><Relationship Id="rId5" Type="http://schemas.openxmlformats.org/officeDocument/2006/relationships/image" Target="../media/image-13-1.png"/><Relationship Id="rId6" Type="http://schemas.openxmlformats.org/officeDocument/2006/relationships/image" Target="../media/image-13-1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84080" y="-2103120"/>
            <a:ext cx="5486400" cy="5486400"/>
          </a:xfrm>
          <a:prstGeom prst="ellipse">
            <a:avLst/>
          </a:prstGeom>
          <a:solidFill>
            <a:srgbClr val="234A34"/>
          </a:solidFill>
          <a:ln/>
        </p:spPr>
      </p:sp>
      <p:sp>
        <p:nvSpPr>
          <p:cNvPr id="3" name="Shape 1"/>
          <p:cNvSpPr/>
          <p:nvPr/>
        </p:nvSpPr>
        <p:spPr>
          <a:xfrm>
            <a:off x="-2286000" y="4754880"/>
            <a:ext cx="4572000" cy="4572000"/>
          </a:xfrm>
          <a:prstGeom prst="ellipse">
            <a:avLst/>
          </a:prstGeom>
          <a:solidFill>
            <a:srgbClr val="234A34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822960"/>
            <a:ext cx="777240" cy="777240"/>
          </a:xfrm>
          <a:prstGeom prst="ellipse">
            <a:avLst/>
          </a:prstGeom>
          <a:solidFill>
            <a:srgbClr val="C24A78"/>
          </a:solidFill>
          <a:ln/>
        </p:spPr>
      </p:sp>
      <p:pic>
        <p:nvPicPr>
          <p:cNvPr id="5" name="Image 0" descr="/tmp/claude-0/-home-user-FarmDeApp/6acb5467-a921-52c6-8401-d505f26136ca/scratchpad/pptx_assets/he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2815" y="1032815"/>
            <a:ext cx="357530" cy="35753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828800" y="89611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FE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มูลนิธิในอ้อมกอด  ·  THE ANGEL ARMS FOUNDATION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46888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Angel Arms Horse Sanctuary</a:t>
            </a:r>
            <a:endParaRPr lang="en-US" sz="4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52044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paid horse retirement &amp; wellness boarding facility with an equine-therapy program on 10 rai in Nakhon Nayok — anchoring a 32-rai equestrian community sold off-plan in partnership with the land owner.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822960" y="4892040"/>
            <a:ext cx="0" cy="1051560"/>
          </a:xfrm>
          <a:prstGeom prst="line">
            <a:avLst/>
          </a:prstGeom>
          <a:noFill/>
          <a:ln w="12700">
            <a:solidFill>
              <a:srgbClr val="3E5F4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87552" y="48920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9FC1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LAND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987552" y="518464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 rai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3566160" y="4892040"/>
            <a:ext cx="0" cy="1051560"/>
          </a:xfrm>
          <a:prstGeom prst="line">
            <a:avLst/>
          </a:prstGeom>
          <a:noFill/>
          <a:ln w="12700">
            <a:solidFill>
              <a:srgbClr val="3E5F49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730752" y="48920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9FC1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CAPITAL ASK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3730752" y="518464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~฿54–69M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6309360" y="4892040"/>
            <a:ext cx="0" cy="1051560"/>
          </a:xfrm>
          <a:prstGeom prst="line">
            <a:avLst/>
          </a:prstGeom>
          <a:noFill/>
          <a:ln w="12700">
            <a:solidFill>
              <a:srgbClr val="3E5F49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73952" y="48920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9FC1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BOARDING FEE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6473952" y="518464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฿15,000/mo/horse</a:t>
            </a:r>
            <a:endParaRPr lang="en-US" sz="2200" dirty="0"/>
          </a:p>
        </p:txBody>
      </p:sp>
      <p:sp>
        <p:nvSpPr>
          <p:cNvPr id="18" name="Shape 15"/>
          <p:cNvSpPr/>
          <p:nvPr/>
        </p:nvSpPr>
        <p:spPr>
          <a:xfrm>
            <a:off x="9052560" y="4892040"/>
            <a:ext cx="0" cy="1051560"/>
          </a:xfrm>
          <a:prstGeom prst="line">
            <a:avLst/>
          </a:prstGeom>
          <a:noFill/>
          <a:ln w="12700">
            <a:solidFill>
              <a:srgbClr val="3E5F49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217152" y="48920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9FC1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CHILDREN IN THERAPY /YR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9217152" y="518464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500</a:t>
            </a:r>
            <a:endParaRPr lang="en-US" sz="22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Apinya  ·  September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5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property, two very different financial jobs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257800" cy="3977640"/>
          </a:xfrm>
          <a:prstGeom prst="roundRect">
            <a:avLst>
              <a:gd name="adj" fmla="val 1839"/>
            </a:avLst>
          </a:prstGeom>
          <a:solidFill>
            <a:srgbClr val="DCE6DA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874520"/>
            <a:ext cx="658368" cy="658368"/>
          </a:xfrm>
          <a:prstGeom prst="ellipse">
            <a:avLst/>
          </a:prstGeom>
          <a:solidFill>
            <a:srgbClr val="2F6B45"/>
          </a:solidFill>
          <a:ln/>
        </p:spPr>
      </p:sp>
      <p:pic>
        <p:nvPicPr>
          <p:cNvPr id="6" name="Image 0" descr="/tmp/claude-0/-home-user-FarmDeApp/6acb5467-a921-52c6-8401-d505f26136ca/scratchpad/pptx_assets/hor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6439" y="2052279"/>
            <a:ext cx="302849" cy="302849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91640" y="192024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2F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RAI · YOURS TO FUND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691640" y="2176272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2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Sanctuary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2788920"/>
            <a:ext cx="4617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B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Owned by The Angel Arms Foundation. A paid retirement/boarding facility — 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B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 keep their horse and pay ฿15,000/month + vet fees for full-service care, plus a children's equine-therapy program.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657600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F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paying business, not a donation-dependent rescue — positive from Year 1.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68680" y="4343400"/>
            <a:ext cx="4617720" cy="0"/>
          </a:xfrm>
          <a:prstGeom prst="line">
            <a:avLst/>
          </a:prstGeom>
          <a:noFill/>
          <a:ln w="12700">
            <a:solidFill>
              <a:srgbClr val="C3D6C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68680" y="44805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" kern="0" dirty="0">
                <a:solidFill>
                  <a:srgbClr val="8A8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CAPITAL NEED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" y="475488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6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~฿54.7M</a:t>
            </a:r>
            <a:endParaRPr lang="en-US" sz="3000" dirty="0"/>
          </a:p>
        </p:txBody>
      </p:sp>
      <p:sp>
        <p:nvSpPr>
          <p:cNvPr id="14" name="Shape 11"/>
          <p:cNvSpPr/>
          <p:nvPr/>
        </p:nvSpPr>
        <p:spPr>
          <a:xfrm>
            <a:off x="6126480" y="1554480"/>
            <a:ext cx="5257800" cy="3977640"/>
          </a:xfrm>
          <a:prstGeom prst="roundRect">
            <a:avLst>
              <a:gd name="adj" fmla="val 1839"/>
            </a:avLst>
          </a:prstGeom>
          <a:solidFill>
            <a:srgbClr val="EFE3D3"/>
          </a:solidFill>
          <a:ln/>
        </p:spPr>
      </p:sp>
      <p:sp>
        <p:nvSpPr>
          <p:cNvPr id="15" name="Shape 12"/>
          <p:cNvSpPr/>
          <p:nvPr/>
        </p:nvSpPr>
        <p:spPr>
          <a:xfrm>
            <a:off x="6446520" y="1874520"/>
            <a:ext cx="658368" cy="658368"/>
          </a:xfrm>
          <a:prstGeom prst="ellipse">
            <a:avLst/>
          </a:prstGeom>
          <a:solidFill>
            <a:srgbClr val="8B5A2B"/>
          </a:solidFill>
          <a:ln/>
        </p:spPr>
      </p:sp>
      <p:pic>
        <p:nvPicPr>
          <p:cNvPr id="16" name="Image 1" descr="/tmp/claude-0/-home-user-FarmDeApp/6acb5467-a921-52c6-8401-d505f26136ca/scratchpad/pptx_assets/ho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4279" y="2052279"/>
            <a:ext cx="302849" cy="302849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7269480" y="192024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8B5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RAI · OWNER-FINANCED</a:t>
            </a:r>
            <a:endParaRPr lang="en-US" sz="1100" dirty="0"/>
          </a:p>
        </p:txBody>
      </p:sp>
      <p:sp>
        <p:nvSpPr>
          <p:cNvPr id="18" name="Text 14"/>
          <p:cNvSpPr txBox="1"/>
          <p:nvPr/>
        </p:nvSpPr>
        <p:spPr>
          <a:xfrm>
            <a:off x="7269480" y="2176272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2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Community</a:t>
            </a:r>
            <a:endParaRPr lang="en-US" sz="2400" dirty="0"/>
          </a:p>
        </p:txBody>
      </p:sp>
      <p:sp>
        <p:nvSpPr>
          <p:cNvPr id="19" name="Text 15"/>
          <p:cNvSpPr txBox="1"/>
          <p:nvPr/>
        </p:nvSpPr>
        <p:spPr>
          <a:xfrm>
            <a:off x="6446520" y="2788920"/>
            <a:ext cx="4617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B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15–18 plots sold first to boarding clients, then the broader market. The owner keeps the deed and transfers title directly to each buyer, in step with the payment plan.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6446520" y="3657600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B5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to pay for itself — not a source of profit to lean on.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6446520" y="4343400"/>
            <a:ext cx="4617720" cy="0"/>
          </a:xfrm>
          <a:prstGeom prst="line">
            <a:avLst/>
          </a:prstGeom>
          <a:noFill/>
          <a:ln w="12700">
            <a:solidFill>
              <a:srgbClr val="DDCBAA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446520" y="44805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" kern="0" dirty="0">
                <a:solidFill>
                  <a:srgbClr val="8A8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 COST TO YOU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6446520" y="475488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24A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฿0</a:t>
            </a:r>
            <a:endParaRPr lang="en-US" sz="3000" dirty="0"/>
          </a:p>
        </p:txBody>
      </p:sp>
      <p:sp>
        <p:nvSpPr>
          <p:cNvPr id="24" name="Text 20"/>
          <p:cNvSpPr txBox="1"/>
          <p:nvPr/>
        </p:nvSpPr>
        <p:spPr>
          <a:xfrm>
            <a:off x="114300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5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&amp; MISSION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Anchoring welfare, therapy, and community in one place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5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87452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i="1" dirty="0">
                <a:solidFill>
                  <a:srgbClr val="222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leading horse welfare and equine-therapy program in the Khao Yai–Nakhon Nayok region — and the flagship program of The Angel Arms Foundation.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035040" y="1600200"/>
            <a:ext cx="566928" cy="566928"/>
          </a:xfrm>
          <a:prstGeom prst="ellipse">
            <a:avLst/>
          </a:prstGeom>
          <a:solidFill>
            <a:srgbClr val="2F6B45"/>
          </a:solidFill>
          <a:ln/>
        </p:spPr>
      </p:sp>
      <p:pic>
        <p:nvPicPr>
          <p:cNvPr id="7" name="Image 0" descr="/tmp/claude-0/-home-user-FarmDeApp/6acb5467-a921-52c6-8401-d505f26136ca/scratchpad/pptx_assets/he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88111" y="1753271"/>
            <a:ext cx="260787" cy="26078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812280" y="1581912"/>
            <a:ext cx="4800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Retirement &amp; wellness boarding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812280" y="1892808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Full-service paid care at ฿15,000/month + vet fees — owners keep their horse.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035040" y="2651760"/>
            <a:ext cx="566928" cy="566928"/>
          </a:xfrm>
          <a:prstGeom prst="ellipse">
            <a:avLst/>
          </a:prstGeom>
          <a:solidFill>
            <a:srgbClr val="8B5A2B"/>
          </a:solidFill>
          <a:ln/>
        </p:spPr>
      </p:sp>
      <p:pic>
        <p:nvPicPr>
          <p:cNvPr id="11" name="Image 1" descr="/tmp/claude-0/-home-user-FarmDeApp/6acb5467-a921-52c6-8401-d505f26136ca/scratchpad/pptx_assets/chi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8111" y="2804831"/>
            <a:ext cx="260787" cy="26078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812280" y="2633472"/>
            <a:ext cx="4800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Equine-assisted therapy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6812280" y="2944368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special-needs children and families the Foundation already serves.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035040" y="3703320"/>
            <a:ext cx="566928" cy="566928"/>
          </a:xfrm>
          <a:prstGeom prst="ellipse">
            <a:avLst/>
          </a:prstGeom>
          <a:solidFill>
            <a:srgbClr val="2F6B45"/>
          </a:solidFill>
          <a:ln/>
        </p:spPr>
      </p:sp>
      <p:pic>
        <p:nvPicPr>
          <p:cNvPr id="15" name="Image 2" descr="/tmp/claude-0/-home-user-FarmDeApp/6acb5467-a921-52c6-8401-d505f26136ca/scratchpad/pptx_assets/ho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8111" y="3856391"/>
            <a:ext cx="260787" cy="260787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812280" y="3685032"/>
            <a:ext cx="4800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the community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6812280" y="3995928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resident network drawn first from boarding clients, whose land purchase funds itself.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6035040" y="4754880"/>
            <a:ext cx="566928" cy="566928"/>
          </a:xfrm>
          <a:prstGeom prst="ellipse">
            <a:avLst/>
          </a:prstGeom>
          <a:solidFill>
            <a:srgbClr val="8B5A2B"/>
          </a:solidFill>
          <a:ln/>
        </p:spPr>
      </p:sp>
      <p:pic>
        <p:nvPicPr>
          <p:cNvPr id="19" name="Image 3" descr="/tmp/claude-0/-home-user-FarmDeApp/6acb5467-a921-52c6-8401-d505f26136ca/scratchpad/pptx_assets/seedlin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8111" y="4907951"/>
            <a:ext cx="260787" cy="260787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812280" y="4736592"/>
            <a:ext cx="4800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Educate &amp; train</a:t>
            </a:r>
            <a:endParaRPr lang="en-US" sz="1500" dirty="0"/>
          </a:p>
        </p:txBody>
      </p:sp>
      <p:sp>
        <p:nvSpPr>
          <p:cNvPr id="21" name="Text 15"/>
          <p:cNvSpPr txBox="1"/>
          <p:nvPr/>
        </p:nvSpPr>
        <p:spPr>
          <a:xfrm>
            <a:off x="6812280" y="5047488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Career and life-skills opportunities through sanctuary operations.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114300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5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CONCEPT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linked pieces, three financial jobs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20440" cy="4114800"/>
          </a:xfrm>
          <a:prstGeom prst="roundRect">
            <a:avLst>
              <a:gd name="adj" fmla="val 2078"/>
            </a:avLst>
          </a:prstGeom>
          <a:solidFill>
            <a:srgbClr val="DCE6DA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828800"/>
            <a:ext cx="594360" cy="594360"/>
          </a:xfrm>
          <a:prstGeom prst="ellipse">
            <a:avLst/>
          </a:prstGeom>
          <a:solidFill>
            <a:srgbClr val="2F6B45"/>
          </a:solidFill>
          <a:ln/>
        </p:spPr>
      </p:sp>
      <p:pic>
        <p:nvPicPr>
          <p:cNvPr id="6" name="Image 0" descr="/tmp/claude-0/-home-user-FarmDeApp/6acb5467-a921-52c6-8401-d505f26136ca/scratchpad/pptx_assets/he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3437" y="1989277"/>
            <a:ext cx="273406" cy="27340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256032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2F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83464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Angel Arms Foundation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65760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Owns the 10-rai sanctuary: paid retirement boarding, therapy, donor &amp; grant relationships. No new charity registration needed.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4069080" y="3337560"/>
            <a:ext cx="219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A8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4288536" y="1554480"/>
            <a:ext cx="3520440" cy="4114800"/>
          </a:xfrm>
          <a:prstGeom prst="roundRect">
            <a:avLst>
              <a:gd name="adj" fmla="val 2078"/>
            </a:avLst>
          </a:prstGeom>
          <a:solidFill>
            <a:srgbClr val="EFE3D3"/>
          </a:solidFill>
          <a:ln/>
        </p:spPr>
      </p:sp>
      <p:sp>
        <p:nvSpPr>
          <p:cNvPr id="12" name="Shape 9"/>
          <p:cNvSpPr/>
          <p:nvPr/>
        </p:nvSpPr>
        <p:spPr>
          <a:xfrm>
            <a:off x="4562856" y="1828800"/>
            <a:ext cx="594360" cy="594360"/>
          </a:xfrm>
          <a:prstGeom prst="ellipse">
            <a:avLst/>
          </a:prstGeom>
          <a:solidFill>
            <a:srgbClr val="8B5A2B"/>
          </a:solidFill>
          <a:ln/>
        </p:spPr>
      </p:sp>
      <p:pic>
        <p:nvPicPr>
          <p:cNvPr id="13" name="Image 1" descr="/tmp/claude-0/-home-user-FarmDeApp/6acb5467-a921-52c6-8401-d505f26136ca/scratchpad/pptx_assets/handshak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3333" y="1989277"/>
            <a:ext cx="273406" cy="273406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562856" y="256032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8B5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PARTNERSHIP</a:t>
            </a:r>
            <a:endParaRPr lang="en-US" sz="1000" dirty="0"/>
          </a:p>
        </p:txBody>
      </p:sp>
      <p:sp>
        <p:nvSpPr>
          <p:cNvPr id="15" name="Text 11"/>
          <p:cNvSpPr txBox="1"/>
          <p:nvPr/>
        </p:nvSpPr>
        <p:spPr>
          <a:xfrm>
            <a:off x="4562856" y="283464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Land-development / sales entity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4562856" y="365760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Partners with the land owner, who retains the deed on the 32 rai and transfers title directly to each buyer in step with the payment plan.</a:t>
            </a:r>
            <a:endParaRPr lang="en-US" sz="1250" dirty="0"/>
          </a:p>
        </p:txBody>
      </p:sp>
      <p:sp>
        <p:nvSpPr>
          <p:cNvPr id="17" name="Text 13"/>
          <p:cNvSpPr txBox="1"/>
          <p:nvPr/>
        </p:nvSpPr>
        <p:spPr>
          <a:xfrm>
            <a:off x="7808976" y="3337560"/>
            <a:ext cx="219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A8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4"/>
          <p:cNvSpPr/>
          <p:nvPr/>
        </p:nvSpPr>
        <p:spPr>
          <a:xfrm>
            <a:off x="8028432" y="1554480"/>
            <a:ext cx="3520440" cy="4114800"/>
          </a:xfrm>
          <a:prstGeom prst="roundRect">
            <a:avLst>
              <a:gd name="adj" fmla="val 2078"/>
            </a:avLst>
          </a:prstGeom>
          <a:solidFill>
            <a:srgbClr val="F6E3EA"/>
          </a:solidFill>
          <a:ln/>
        </p:spPr>
      </p:sp>
      <p:sp>
        <p:nvSpPr>
          <p:cNvPr id="19" name="Shape 15"/>
          <p:cNvSpPr/>
          <p:nvPr/>
        </p:nvSpPr>
        <p:spPr>
          <a:xfrm>
            <a:off x="8302752" y="1828800"/>
            <a:ext cx="594360" cy="594360"/>
          </a:xfrm>
          <a:prstGeom prst="ellipse">
            <a:avLst/>
          </a:prstGeom>
          <a:solidFill>
            <a:srgbClr val="C24A78"/>
          </a:solidFill>
          <a:ln/>
        </p:spPr>
      </p:sp>
      <p:pic>
        <p:nvPicPr>
          <p:cNvPr id="20" name="Image 2" descr="/tmp/claude-0/-home-user-FarmDeApp/6acb5467-a921-52c6-8401-d505f26136ca/scratchpad/pptx_assets/ho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3229" y="1989277"/>
            <a:ext cx="273406" cy="273406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8302752" y="256032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C24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22" name="Text 17"/>
          <p:cNvSpPr txBox="1"/>
          <p:nvPr/>
        </p:nvSpPr>
        <p:spPr>
          <a:xfrm>
            <a:off x="8302752" y="283464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Community-amenities company</a:t>
            </a:r>
            <a:endParaRPr lang="en-US" sz="1700" dirty="0"/>
          </a:p>
        </p:txBody>
      </p:sp>
      <p:sp>
        <p:nvSpPr>
          <p:cNvPr id="23" name="Text 18"/>
          <p:cNvSpPr txBox="1"/>
          <p:nvPr/>
        </p:nvSpPr>
        <p:spPr>
          <a:xfrm>
            <a:off x="8302752" y="365760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café, shared glamping/EV/villa, and collects HOA-style fees — a growing surplus on top of the sanctuary's own boarding-fee income.</a:t>
            </a:r>
            <a:endParaRPr lang="en-US" sz="1250" dirty="0"/>
          </a:p>
        </p:txBody>
      </p:sp>
      <p:sp>
        <p:nvSpPr>
          <p:cNvPr id="24" name="Shape 19"/>
          <p:cNvSpPr/>
          <p:nvPr/>
        </p:nvSpPr>
        <p:spPr>
          <a:xfrm>
            <a:off x="548640" y="5760720"/>
            <a:ext cx="10698480" cy="658368"/>
          </a:xfrm>
          <a:prstGeom prst="roundRect">
            <a:avLst>
              <a:gd name="adj" fmla="val 8333"/>
            </a:avLst>
          </a:prstGeom>
          <a:solidFill>
            <a:srgbClr val="FBF3E9"/>
          </a:solidFill>
          <a:ln w="12700">
            <a:solidFill>
              <a:srgbClr val="E8D9BE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777240" y="5760720"/>
            <a:ext cx="10241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5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in writing: </a:t>
            </a:r>
            <a:pPr indent="0" marL="0">
              <a:buNone/>
            </a:pPr>
            <a:r>
              <a:rPr lang="en-US" sz="1250" dirty="0">
                <a:solidFill>
                  <a:srgbClr val="5B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milestone-satisfaction mechanics, shortfall consequences, and which party is the seller of record for resale tax purposes.</a:t>
            </a:r>
            <a:endParaRPr lang="en-US" sz="1250" dirty="0"/>
          </a:p>
        </p:txBody>
      </p:sp>
      <p:sp>
        <p:nvSpPr>
          <p:cNvPr id="26" name="Text 21"/>
          <p:cNvSpPr txBox="1"/>
          <p:nvPr/>
        </p:nvSpPr>
        <p:spPr>
          <a:xfrm>
            <a:off x="114300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5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 &amp; LAND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Nakhon Nayok, adjacent to Farm De Lek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02920" cy="502920"/>
          </a:xfrm>
          <a:prstGeom prst="ellipse">
            <a:avLst/>
          </a:prstGeom>
          <a:solidFill>
            <a:srgbClr val="2F6B45"/>
          </a:solidFill>
          <a:ln/>
        </p:spPr>
      </p:sp>
      <p:pic>
        <p:nvPicPr>
          <p:cNvPr id="5" name="Image 0" descr="/tmp/claude-0/-home-user-FarmDeApp/6acb5467-a921-52c6-8401-d505f26136ca/scratchpad/pptx_assets/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4428" y="1735988"/>
            <a:ext cx="231343" cy="23134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188720" y="158191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8B5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PROVINCE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1188720" y="1856232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Nakhon Nayok — ~105 km / 1.5–2 hrs from Bangkok, on the edge of the Khao Yai tourism corridor.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2651760"/>
            <a:ext cx="502920" cy="502920"/>
          </a:xfrm>
          <a:prstGeom prst="ellipse">
            <a:avLst/>
          </a:prstGeom>
          <a:solidFill>
            <a:srgbClr val="2F6B45"/>
          </a:solidFill>
          <a:ln/>
        </p:spPr>
      </p:sp>
      <p:pic>
        <p:nvPicPr>
          <p:cNvPr id="9" name="Image 1" descr="/tmp/claude-0/-home-user-FarmDeApp/6acb5467-a921-52c6-8401-d505f26136ca/scratchpad/pptx_assets/ho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428" y="2787548"/>
            <a:ext cx="231343" cy="231343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188720" y="263347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8B5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ADJACENCY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1188720" y="2907792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Directly next to Farm De Lek, an established farm attraction — shared visibility and cross-promotion potential.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548640" y="3703320"/>
            <a:ext cx="502920" cy="502920"/>
          </a:xfrm>
          <a:prstGeom prst="ellipse">
            <a:avLst/>
          </a:prstGeom>
          <a:solidFill>
            <a:srgbClr val="2F6B45"/>
          </a:solidFill>
          <a:ln/>
        </p:spPr>
      </p:sp>
      <p:pic>
        <p:nvPicPr>
          <p:cNvPr id="13" name="Image 2" descr="/tmp/claude-0/-home-user-FarmDeApp/6acb5467-a921-52c6-8401-d505f26136ca/scratchpad/pptx_assets/checklis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428" y="3839108"/>
            <a:ext cx="231343" cy="23134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188720" y="368503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8B5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</a:t>
            </a:r>
            <a:endParaRPr lang="en-US" sz="1050" dirty="0"/>
          </a:p>
        </p:txBody>
      </p:sp>
      <p:sp>
        <p:nvSpPr>
          <p:cNvPr id="15" name="Text 10"/>
          <p:cNvSpPr txBox="1"/>
          <p:nvPr/>
        </p:nvSpPr>
        <p:spPr>
          <a:xfrm>
            <a:off x="1188720" y="3959352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documents show a narrow, elongated parcel with public-road frontage. Formal re-survey still required.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6126480" y="1600200"/>
            <a:ext cx="5486400" cy="4343400"/>
          </a:xfrm>
          <a:prstGeom prst="roundRect">
            <a:avLst>
              <a:gd name="adj" fmla="val 1684"/>
            </a:avLst>
          </a:prstGeom>
          <a:solidFill>
            <a:srgbClr val="DCE6DA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6400800" y="181051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2F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BEFORE PURCHASE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6400800" y="214884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✦"/>
            </a:pPr>
            <a:r>
              <a:rPr lang="en-US" sz="1300" dirty="0">
                <a:solidFill>
                  <a:srgbClr val="222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area/boundaries via licensed surveyor</a:t>
            </a:r>
            <a:endParaRPr lang="en-US" sz="1300" dirty="0"/>
          </a:p>
          <a:p>
            <a:pPr marL="342900" indent="-342900">
              <a:spcAft>
                <a:spcPts val="1200"/>
              </a:spcAft>
              <a:buSzPct val="100000"/>
              <a:buChar char="✦"/>
            </a:pPr>
            <a:r>
              <a:rPr lang="en-US" sz="1300" dirty="0">
                <a:solidFill>
                  <a:srgbClr val="222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status of the road-access easement</a:t>
            </a:r>
            <a:endParaRPr lang="en-US" sz="1300" dirty="0"/>
          </a:p>
          <a:p>
            <a:pPr marL="342900" indent="-342900">
              <a:spcAft>
                <a:spcPts val="1200"/>
              </a:spcAft>
              <a:buSzPct val="100000"/>
              <a:buChar char="✦"/>
            </a:pPr>
            <a:r>
              <a:rPr lang="en-US" sz="1300" dirty="0">
                <a:solidFill>
                  <a:srgbClr val="222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10-rai / 32-rai parcel split, before or at purchase</a:t>
            </a:r>
            <a:endParaRPr lang="en-US" sz="1300" dirty="0"/>
          </a:p>
          <a:p>
            <a:pPr marL="342900" indent="-342900">
              <a:spcAft>
                <a:spcPts val="1200"/>
              </a:spcAft>
              <a:buSzPct val="100000"/>
              <a:buChar char="✦"/>
            </a:pPr>
            <a:r>
              <a:rPr lang="en-US" sz="1300" dirty="0">
                <a:solidFill>
                  <a:srgbClr val="222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rights/access for pasture irrigation &amp; pond</a:t>
            </a:r>
            <a:endParaRPr lang="en-US" sz="1300" dirty="0"/>
          </a:p>
          <a:p>
            <a:pPr marL="342900" indent="-342900">
              <a:spcAft>
                <a:spcPts val="1200"/>
              </a:spcAft>
              <a:buSzPct val="100000"/>
              <a:buChar char="✦"/>
            </a:pPr>
            <a:r>
              <a:rPr lang="en-US" sz="1300" dirty="0">
                <a:solidFill>
                  <a:srgbClr val="222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 elevation data — floating structures are planned</a:t>
            </a:r>
            <a:endParaRPr lang="en-US" sz="1300" dirty="0"/>
          </a:p>
        </p:txBody>
      </p:sp>
      <p:sp>
        <p:nvSpPr>
          <p:cNvPr id="19" name="Text 14"/>
          <p:cNvSpPr txBox="1"/>
          <p:nvPr/>
        </p:nvSpPr>
        <p:spPr>
          <a:xfrm>
            <a:off x="114300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5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MASTER PLAN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actually fits on each parcel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" kern="0" dirty="0">
                <a:solidFill>
                  <a:srgbClr val="2F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10-RAI SANCTUARY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F7F5EE"/>
          </a:solidFill>
          <a:ln w="12700">
            <a:solidFill>
              <a:srgbClr val="E4DFC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874520"/>
            <a:ext cx="1005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6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~1.5 rai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828800" y="194767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stable barn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828800" y="22402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stalls, tack/feed room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2715768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F7F5EE"/>
          </a:solidFill>
          <a:ln w="12700">
            <a:solidFill>
              <a:srgbClr val="E4DFC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2715768"/>
            <a:ext cx="1005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6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 rai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828800" y="27889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Quarantine &amp; vet clinic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828800" y="3081528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New-arrival checks &amp; settling-in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3557016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F7F5EE"/>
          </a:solidFill>
          <a:ln w="12700">
            <a:solidFill>
              <a:srgbClr val="E4DFC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3557016"/>
            <a:ext cx="1005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6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 rai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828800" y="3630168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Covered therapy arena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828800" y="3922776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All-weather lessons &amp; sessions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8640" y="4398264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F7F5EE"/>
          </a:solidFill>
          <a:ln w="12700">
            <a:solidFill>
              <a:srgbClr val="E4DF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4398264"/>
            <a:ext cx="1005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6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~5 rai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828800" y="4471416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Multi-terrain pasture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828800" y="476402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zones: grazing &amp; turnout cells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48640" y="5239512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F7F5EE"/>
          </a:solidFill>
          <a:ln w="12700">
            <a:solidFill>
              <a:srgbClr val="E4DFC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1520" y="5239512"/>
            <a:ext cx="1005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6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 rai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828800" y="531266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&amp; access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828800" y="560527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Reception, parking, road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6263640" y="150876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" kern="0" dirty="0">
                <a:solidFill>
                  <a:srgbClr val="8B5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32-RAI RESIDENTIAL DEVELOPMENT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263640" y="1874520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F7F1E7"/>
          </a:solidFill>
          <a:ln w="12700">
            <a:solidFill>
              <a:srgbClr val="E8D9B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446520" y="1874520"/>
            <a:ext cx="1005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5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~27 rai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543800" y="194767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15–18 titled plots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7543800" y="224028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1–5 rai each, sold to horse-owning families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263640" y="2715768"/>
            <a:ext cx="5394960" cy="1051560"/>
          </a:xfrm>
          <a:prstGeom prst="roundRect">
            <a:avLst>
              <a:gd name="adj" fmla="val 5217"/>
            </a:avLst>
          </a:prstGeom>
          <a:solidFill>
            <a:srgbClr val="F7F1E7"/>
          </a:solidFill>
          <a:ln w="12700">
            <a:solidFill>
              <a:srgbClr val="E8D9BE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46520" y="2715768"/>
            <a:ext cx="1005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5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~5 rai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7543800" y="27889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Communal zone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7543800" y="308152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Clubhouse/café, 3 shared glamping units, 4 EV sites, 1 floating villa, estate roads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114300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5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&amp; SERVICES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paid boarding business + a mission program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2F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SANCTUARY · FOUNDATION</a:t>
            </a:r>
            <a:endParaRPr lang="en-US" sz="1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539496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20116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B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B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22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Retirement/wellness boarding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22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฿15,000/mo + vet fees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Sanctuary tour / horse encounter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฿300/person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Riding lessons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฿700/session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Equine-assisted therapy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Sponsor/grant-funded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42062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Vet fees are billed and paid directly by the owner — a pass-through, not Foundation revenue or cost.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6263640" y="155448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8B5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AMENITIES · OPERATING COMPANY</a:t>
            </a:r>
            <a:endParaRPr lang="en-US" sz="11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874520"/>
          <a:ext cx="539496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8288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5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5A2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Café &amp; clubhouse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community-scale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Shared glamping (3 units)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฿2,500/night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Shared EV camping (4 sites)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฿800/night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Floating villa (1 unit)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฿4,500/night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Common-area (HOA) fee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฿30,000/plot/yr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114300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5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ANALYSIS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Retirement boarding fills a real gap — and feeds plot sales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 horse owners have few dedicated, professionally run retirement/wellness boarding options — most livery is geared to active competition horses. A facility built specifically for retirement care is a clear gap, and the therapy program adds a CSR story most boarding stables don't have.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2121408" cy="2651760"/>
          </a:xfrm>
          <a:prstGeom prst="roundRect">
            <a:avLst>
              <a:gd name="adj" fmla="val 3448"/>
            </a:avLst>
          </a:prstGeom>
          <a:solidFill>
            <a:srgbClr val="DCE6DA"/>
          </a:solidFill>
          <a:ln/>
        </p:spPr>
      </p:sp>
      <p:sp>
        <p:nvSpPr>
          <p:cNvPr id="6" name="Shape 4"/>
          <p:cNvSpPr/>
          <p:nvPr/>
        </p:nvSpPr>
        <p:spPr>
          <a:xfrm>
            <a:off x="1325880" y="2999232"/>
            <a:ext cx="566928" cy="566928"/>
          </a:xfrm>
          <a:prstGeom prst="ellipse">
            <a:avLst/>
          </a:prstGeom>
          <a:solidFill>
            <a:srgbClr val="2F6B45"/>
          </a:solidFill>
          <a:ln/>
        </p:spPr>
      </p:sp>
      <p:pic>
        <p:nvPicPr>
          <p:cNvPr id="7" name="Image 0" descr="/tmp/claude-0/-home-user-FarmDeApp/6acb5467-a921-52c6-8401-d505f26136ca/scratchpad/pptx_assets/hor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78951" y="3152303"/>
            <a:ext cx="260787" cy="26078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85800" y="3749040"/>
            <a:ext cx="1847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22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Horse owners needing boarding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4251960"/>
            <a:ext cx="18470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sanctuary's core paying customer — the primary near-term transaction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798064" y="2743200"/>
            <a:ext cx="2121408" cy="2651760"/>
          </a:xfrm>
          <a:prstGeom prst="roundRect">
            <a:avLst>
              <a:gd name="adj" fmla="val 3448"/>
            </a:avLst>
          </a:prstGeom>
          <a:solidFill>
            <a:srgbClr val="EFE3D3"/>
          </a:solidFill>
          <a:ln/>
        </p:spPr>
      </p:sp>
      <p:sp>
        <p:nvSpPr>
          <p:cNvPr id="11" name="Shape 8"/>
          <p:cNvSpPr/>
          <p:nvPr/>
        </p:nvSpPr>
        <p:spPr>
          <a:xfrm>
            <a:off x="3575304" y="2999232"/>
            <a:ext cx="566928" cy="566928"/>
          </a:xfrm>
          <a:prstGeom prst="ellipse">
            <a:avLst/>
          </a:prstGeom>
          <a:solidFill>
            <a:srgbClr val="8B5A2B"/>
          </a:solidFill>
          <a:ln/>
        </p:spPr>
      </p:sp>
      <p:pic>
        <p:nvPicPr>
          <p:cNvPr id="12" name="Image 1" descr="/tmp/claude-0/-home-user-FarmDeApp/6acb5467-a921-52c6-8401-d505f26136ca/scratchpad/pptx_assets/ho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8375" y="3152303"/>
            <a:ext cx="260787" cy="26078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935224" y="3749040"/>
            <a:ext cx="1847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22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Boarding clients as plot buyers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2935224" y="4251960"/>
            <a:ext cx="18470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Highest-probability plot-sale lead — treat as the default sales funnel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5047488" y="2743200"/>
            <a:ext cx="2121408" cy="2651760"/>
          </a:xfrm>
          <a:prstGeom prst="roundRect">
            <a:avLst>
              <a:gd name="adj" fmla="val 3448"/>
            </a:avLst>
          </a:prstGeom>
          <a:solidFill>
            <a:srgbClr val="DCE6DA"/>
          </a:solidFill>
          <a:ln/>
        </p:spPr>
      </p:sp>
      <p:sp>
        <p:nvSpPr>
          <p:cNvPr id="16" name="Shape 12"/>
          <p:cNvSpPr/>
          <p:nvPr/>
        </p:nvSpPr>
        <p:spPr>
          <a:xfrm>
            <a:off x="5824728" y="2999232"/>
            <a:ext cx="566928" cy="566928"/>
          </a:xfrm>
          <a:prstGeom prst="ellipse">
            <a:avLst/>
          </a:prstGeom>
          <a:solidFill>
            <a:srgbClr val="2F6B45"/>
          </a:solidFill>
          <a:ln/>
        </p:spPr>
      </p:sp>
      <p:pic>
        <p:nvPicPr>
          <p:cNvPr id="17" name="Image 2" descr="/tmp/claude-0/-home-user-FarmDeApp/6acb5467-a921-52c6-8401-d505f26136ca/scratchpad/pptx_assets/coi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7799" y="3152303"/>
            <a:ext cx="260787" cy="26078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5184648" y="3749040"/>
            <a:ext cx="1847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22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Corporate CSR / grant-makers</a:t>
            </a:r>
            <a:endParaRPr lang="en-US" sz="1300" dirty="0"/>
          </a:p>
        </p:txBody>
      </p:sp>
      <p:sp>
        <p:nvSpPr>
          <p:cNvPr id="19" name="Text 14"/>
          <p:cNvSpPr txBox="1"/>
          <p:nvPr/>
        </p:nvSpPr>
        <p:spPr>
          <a:xfrm>
            <a:off x="5184648" y="4251960"/>
            <a:ext cx="18470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Funding the therapy program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7296912" y="2743200"/>
            <a:ext cx="2121408" cy="2651760"/>
          </a:xfrm>
          <a:prstGeom prst="roundRect">
            <a:avLst>
              <a:gd name="adj" fmla="val 3448"/>
            </a:avLst>
          </a:prstGeom>
          <a:solidFill>
            <a:srgbClr val="EFE3D3"/>
          </a:solidFill>
          <a:ln/>
        </p:spPr>
      </p:sp>
      <p:sp>
        <p:nvSpPr>
          <p:cNvPr id="21" name="Shape 16"/>
          <p:cNvSpPr/>
          <p:nvPr/>
        </p:nvSpPr>
        <p:spPr>
          <a:xfrm>
            <a:off x="8074152" y="2999232"/>
            <a:ext cx="566928" cy="566928"/>
          </a:xfrm>
          <a:prstGeom prst="ellipse">
            <a:avLst/>
          </a:prstGeom>
          <a:solidFill>
            <a:srgbClr val="8B5A2B"/>
          </a:solidFill>
          <a:ln/>
        </p:spPr>
      </p:sp>
      <p:pic>
        <p:nvPicPr>
          <p:cNvPr id="22" name="Image 3" descr="/tmp/claude-0/-home-user-FarmDeApp/6acb5467-a921-52c6-8401-d505f26136ca/scratchpad/pptx_assets/chil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7223" y="3152303"/>
            <a:ext cx="260787" cy="260787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7434072" y="3749040"/>
            <a:ext cx="1847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22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Schools &amp; hospitals</a:t>
            </a:r>
            <a:endParaRPr lang="en-US" sz="1300" dirty="0"/>
          </a:p>
        </p:txBody>
      </p:sp>
      <p:sp>
        <p:nvSpPr>
          <p:cNvPr id="24" name="Text 18"/>
          <p:cNvSpPr txBox="1"/>
          <p:nvPr/>
        </p:nvSpPr>
        <p:spPr>
          <a:xfrm>
            <a:off x="7434072" y="4251960"/>
            <a:ext cx="18470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Referring families for equine-assisted therapy</a:t>
            </a:r>
            <a:endParaRPr lang="en-US" sz="1050" dirty="0"/>
          </a:p>
        </p:txBody>
      </p:sp>
      <p:sp>
        <p:nvSpPr>
          <p:cNvPr id="25" name="Shape 19"/>
          <p:cNvSpPr/>
          <p:nvPr/>
        </p:nvSpPr>
        <p:spPr>
          <a:xfrm>
            <a:off x="9546336" y="2743200"/>
            <a:ext cx="2121408" cy="2651760"/>
          </a:xfrm>
          <a:prstGeom prst="roundRect">
            <a:avLst>
              <a:gd name="adj" fmla="val 3448"/>
            </a:avLst>
          </a:prstGeom>
          <a:solidFill>
            <a:srgbClr val="DCE6DA"/>
          </a:solidFill>
          <a:ln/>
        </p:spPr>
      </p:sp>
      <p:sp>
        <p:nvSpPr>
          <p:cNvPr id="26" name="Shape 20"/>
          <p:cNvSpPr/>
          <p:nvPr/>
        </p:nvSpPr>
        <p:spPr>
          <a:xfrm>
            <a:off x="10323576" y="2999232"/>
            <a:ext cx="566928" cy="566928"/>
          </a:xfrm>
          <a:prstGeom prst="ellipse">
            <a:avLst/>
          </a:prstGeom>
          <a:solidFill>
            <a:srgbClr val="2F6B45"/>
          </a:solidFill>
          <a:ln/>
        </p:spPr>
      </p:sp>
      <p:pic>
        <p:nvPicPr>
          <p:cNvPr id="27" name="Image 4" descr="/tmp/claude-0/-home-user-FarmDeApp/6acb5467-a921-52c6-8401-d505f26136ca/scratchpad/pptx_assets/map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76647" y="3152303"/>
            <a:ext cx="260787" cy="260787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9683496" y="3749040"/>
            <a:ext cx="1847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22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Farm De Lek visitors</a:t>
            </a:r>
            <a:endParaRPr lang="en-US" sz="1300" dirty="0"/>
          </a:p>
        </p:txBody>
      </p:sp>
      <p:sp>
        <p:nvSpPr>
          <p:cNvPr id="29" name="Text 22"/>
          <p:cNvSpPr txBox="1"/>
          <p:nvPr/>
        </p:nvSpPr>
        <p:spPr>
          <a:xfrm>
            <a:off x="9683496" y="4251960"/>
            <a:ext cx="18470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Modest cross-sell for sanctuary tours</a:t>
            </a:r>
            <a:endParaRPr lang="en-US" sz="1050" dirty="0"/>
          </a:p>
        </p:txBody>
      </p:sp>
      <p:sp>
        <p:nvSpPr>
          <p:cNvPr id="30" name="Text 23"/>
          <p:cNvSpPr txBox="1"/>
          <p:nvPr/>
        </p:nvSpPr>
        <p:spPr>
          <a:xfrm>
            <a:off x="114300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5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PLAN · I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Land payments — only ฿23M is your capital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74066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200400"/>
                <a:gridCol w="1554480"/>
                <a:gridCol w="146304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Payment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81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Amount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8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 funds it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81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 2026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Sanctuary land deposit (10 rai)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฿6,000,000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F6B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 2027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Sanctuary land balance (10 rai)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฿17,000,000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F6B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8A87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 2027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8A87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32-rai installment 1/6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8A87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฿12,266,667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87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PASS-THROUGH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8A87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 2027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8A87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32-rai installment 2/6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8A87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฿12,266,667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87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PASS-THROUGH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8A87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 2028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8A87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32-rai installment 3/6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8A87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฿12,266,667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87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PASS-THROUGH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8A87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 2028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8A87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32-rai installment 4/6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8A87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฿12,266,667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87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PASS-THROUGH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8A87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 2028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8A87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32-rai installment 5/6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8A87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฿12,266,667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87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PASS-THROUGH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8A87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 2028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8A87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32-rai installment 6/6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8A87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฿12,266,667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87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PASS-THROUGH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183880" y="1508760"/>
            <a:ext cx="3456432" cy="4434840"/>
          </a:xfrm>
          <a:prstGeom prst="roundRect">
            <a:avLst>
              <a:gd name="adj" fmla="val 2116"/>
            </a:avLst>
          </a:prstGeom>
          <a:solidFill>
            <a:srgbClr val="F6E3EA"/>
          </a:solidFill>
          <a:ln/>
        </p:spPr>
      </p:sp>
      <p:sp>
        <p:nvSpPr>
          <p:cNvPr id="6" name="Shape 3"/>
          <p:cNvSpPr/>
          <p:nvPr/>
        </p:nvSpPr>
        <p:spPr>
          <a:xfrm>
            <a:off x="8458200" y="1783080"/>
            <a:ext cx="548640" cy="548640"/>
          </a:xfrm>
          <a:prstGeom prst="ellipse">
            <a:avLst/>
          </a:prstGeom>
          <a:solidFill>
            <a:srgbClr val="C24A78"/>
          </a:solidFill>
          <a:ln/>
        </p:spPr>
      </p:sp>
      <p:pic>
        <p:nvPicPr>
          <p:cNvPr id="7" name="Image 0" descr="/tmp/claude-0/-home-user-FarmDeApp/6acb5467-a921-52c6-8401-d505f26136ca/scratchpad/pptx_assets/handsha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06333" y="1931213"/>
            <a:ext cx="252374" cy="25237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458200" y="24231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C24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MEANS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8458200" y="2724912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22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only direct land obligation is the ฿23M sanctuary line. The 32-rai schedule is a pass-through — the owner transfers each deed once buyer payments satisfy that milestone.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8458200" y="420624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i="1" dirty="0">
                <a:solidFill>
                  <a:srgbClr val="8A3C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risk to manage is sales pace, not a cash gap — get shortfall terms explicit in the partnership contract.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114300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5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PLAN · II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Sanctuary capital requirement — the real ask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63040"/>
          <a:ext cx="694944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818120" y="1463040"/>
            <a:ext cx="3822192" cy="1051560"/>
          </a:xfrm>
          <a:prstGeom prst="roundRect">
            <a:avLst>
              <a:gd name="adj" fmla="val 6957"/>
            </a:avLst>
          </a:prstGeom>
          <a:solidFill>
            <a:srgbClr val="FBFAF6"/>
          </a:solidFill>
          <a:ln w="12700">
            <a:solidFill>
              <a:srgbClr val="E4DFC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982712" y="1591056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8A8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SANCTUARY CAPITAL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7982712" y="1847088"/>
            <a:ext cx="3493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F6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฿54.7M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7818120" y="2697480"/>
            <a:ext cx="3822192" cy="1051560"/>
          </a:xfrm>
          <a:prstGeom prst="roundRect">
            <a:avLst>
              <a:gd name="adj" fmla="val 6957"/>
            </a:avLst>
          </a:prstGeom>
          <a:solidFill>
            <a:srgbClr val="FBFAF6"/>
          </a:solidFill>
          <a:ln w="12700">
            <a:solidFill>
              <a:srgbClr val="E4DFC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7982712" y="2825496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8A8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WHICH IS LAND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7982712" y="3081528"/>
            <a:ext cx="3493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฿23.0M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7818120" y="3931920"/>
            <a:ext cx="3822192" cy="1051560"/>
          </a:xfrm>
          <a:prstGeom prst="roundRect">
            <a:avLst>
              <a:gd name="adj" fmla="val 6957"/>
            </a:avLst>
          </a:prstGeom>
          <a:solidFill>
            <a:srgbClr val="FBFAF6"/>
          </a:solidFill>
          <a:ln w="12700">
            <a:solidFill>
              <a:srgbClr val="E4DFC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7982712" y="4059936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8A8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WHICH IS CONSTRUCTION/FIT-OUT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7982712" y="4315968"/>
            <a:ext cx="3493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฿31.7M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7818120" y="5166360"/>
            <a:ext cx="3822192" cy="914400"/>
          </a:xfrm>
          <a:prstGeom prst="roundRect">
            <a:avLst>
              <a:gd name="adj" fmla="val 8000"/>
            </a:avLst>
          </a:prstGeom>
          <a:solidFill>
            <a:srgbClr val="F6E3E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001000" y="516636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3C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only piece that's really yours to raise.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114300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5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PLAN · III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32-rai development — self-funding, not a profit center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4DFC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554480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 revenue (27 rai × ฿3.5M)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0" y="1554480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222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฿94,500,000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6858000" y="1554480"/>
            <a:ext cx="1051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A8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collect from buyers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2212848"/>
            <a:ext cx="740664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4DFC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212848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Owner's land share (pass-through)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5029200" y="2212848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8A876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(฿73,600,000)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6858000" y="2212848"/>
            <a:ext cx="1051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A8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your cost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48640" y="2871216"/>
            <a:ext cx="7406640" cy="566928"/>
          </a:xfrm>
          <a:prstGeom prst="roundRect">
            <a:avLst>
              <a:gd name="adj" fmla="val 8065"/>
            </a:avLst>
          </a:prstGeom>
          <a:solidFill>
            <a:srgbClr val="F7F5EE"/>
          </a:solidFill>
          <a:ln w="15875">
            <a:solidFill>
              <a:srgbClr val="E4DFC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2871216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gross margin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0" y="2871216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2F6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฿20,900,000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6858000" y="2871216"/>
            <a:ext cx="1051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48640" y="3529584"/>
            <a:ext cx="740664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4DFC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3529584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Roads, utilities, communal build (7 items)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0" y="3529584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8B5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(฿13,800,000)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6858000" y="3529584"/>
            <a:ext cx="1051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A8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capital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48640" y="4187952"/>
            <a:ext cx="740664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4DFC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" y="4187952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Marketing, transfer fee, SBT (est.)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5029200" y="4187952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8A876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(฿6,898,500)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6858000" y="4187952"/>
            <a:ext cx="1051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A8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deducted from proceeds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48640" y="4846320"/>
            <a:ext cx="7406640" cy="566928"/>
          </a:xfrm>
          <a:prstGeom prst="roundRect">
            <a:avLst>
              <a:gd name="adj" fmla="val 8065"/>
            </a:avLst>
          </a:prstGeom>
          <a:solidFill>
            <a:srgbClr val="F7F5EE"/>
          </a:solidFill>
          <a:ln w="15875">
            <a:solidFill>
              <a:srgbClr val="E4DFC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31520" y="4846320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MARGIN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5029200" y="4846320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C24A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฿201,500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6858000" y="4846320"/>
            <a:ext cx="1051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8183880" y="1554480"/>
            <a:ext cx="3456432" cy="4343400"/>
          </a:xfrm>
          <a:prstGeom prst="roundRect">
            <a:avLst>
              <a:gd name="adj" fmla="val 2116"/>
            </a:avLst>
          </a:prstGeom>
          <a:solidFill>
            <a:srgbClr val="EFE3D3"/>
          </a:solidFill>
          <a:ln/>
        </p:spPr>
      </p:sp>
      <p:sp>
        <p:nvSpPr>
          <p:cNvPr id="29" name="Shape 27"/>
          <p:cNvSpPr/>
          <p:nvPr/>
        </p:nvSpPr>
        <p:spPr>
          <a:xfrm>
            <a:off x="8458200" y="1828800"/>
            <a:ext cx="548640" cy="548640"/>
          </a:xfrm>
          <a:prstGeom prst="ellipse">
            <a:avLst/>
          </a:prstGeom>
          <a:solidFill>
            <a:srgbClr val="8B5A2B"/>
          </a:solidFill>
          <a:ln/>
        </p:spPr>
      </p:sp>
      <p:pic>
        <p:nvPicPr>
          <p:cNvPr id="30" name="Image 0" descr="/tmp/claude-0/-home-user-FarmDeApp/6acb5467-a921-52c6-8401-d505f26136ca/scratchpad/pptx_assets/coi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06333" y="1976933"/>
            <a:ext cx="252374" cy="252374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8458200" y="24688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B5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~0.2% NET MARGIN</a:t>
            </a:r>
            <a:endParaRPr lang="en-US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8458200" y="288036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22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real exposure is the ~฿13.8M infrastructure spend — ideally sequenced against buyer reservation deposits so you aren't fronting it.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8458200" y="434340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i="1" dirty="0">
                <a:solidFill>
                  <a:srgbClr val="6B4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piece is a community-building tool, not a profit engine.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114300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5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PLAN · IV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Post-launch outlook — positive from Year 1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63040"/>
          <a:ext cx="749808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463040"/>
            <a:ext cx="3364992" cy="1371600"/>
          </a:xfrm>
          <a:prstGeom prst="roundRect">
            <a:avLst>
              <a:gd name="adj" fmla="val 5333"/>
            </a:avLst>
          </a:prstGeom>
          <a:solidFill>
            <a:srgbClr val="FBFAF6"/>
          </a:solidFill>
          <a:ln w="12700">
            <a:solidFill>
              <a:srgbClr val="E4DFC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439912" y="1591056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8A8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 COMBINED NET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8439912" y="1847088"/>
            <a:ext cx="30358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F6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+฿342k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8275320" y="2971800"/>
            <a:ext cx="3364992" cy="1371600"/>
          </a:xfrm>
          <a:prstGeom prst="roundRect">
            <a:avLst>
              <a:gd name="adj" fmla="val 5333"/>
            </a:avLst>
          </a:prstGeom>
          <a:solidFill>
            <a:srgbClr val="FBFAF6"/>
          </a:solidFill>
          <a:ln w="12700">
            <a:solidFill>
              <a:srgbClr val="E4DFC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439912" y="3099816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8A8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5 COMBINED NET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8439912" y="3355848"/>
            <a:ext cx="30358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F6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+฿5.60M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8275320" y="4480560"/>
            <a:ext cx="3364992" cy="1417320"/>
          </a:xfrm>
          <a:prstGeom prst="roundRect">
            <a:avLst>
              <a:gd name="adj" fmla="val 5161"/>
            </a:avLst>
          </a:prstGeom>
          <a:solidFill>
            <a:srgbClr val="DCE6D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458200" y="4480560"/>
            <a:ext cx="30175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1F4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Boarding fees make this a real paying business — donations and grants are upside, not the lifeline.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114300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5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ANALYSIS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to watch, and how it's mitigated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621024" cy="2148840"/>
          </a:xfrm>
          <a:prstGeom prst="roundRect">
            <a:avLst>
              <a:gd name="adj" fmla="val 2979"/>
            </a:avLst>
          </a:prstGeom>
          <a:solidFill>
            <a:srgbClr val="FFFFFF"/>
          </a:solidFill>
          <a:ln w="12700">
            <a:solidFill>
              <a:srgbClr val="E4DFC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1801368"/>
            <a:ext cx="420624" cy="420624"/>
          </a:xfrm>
          <a:prstGeom prst="ellipse">
            <a:avLst/>
          </a:prstGeom>
          <a:solidFill>
            <a:srgbClr val="C24A78"/>
          </a:solidFill>
          <a:ln/>
        </p:spPr>
      </p:sp>
      <p:pic>
        <p:nvPicPr>
          <p:cNvPr id="6" name="Image 0" descr="/tmp/claude-0/-home-user-FarmDeApp/6acb5467-a921-52c6-8401-d505f26136ca/scratchpad/pptx_assets/warn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376" y="1914936"/>
            <a:ext cx="193487" cy="19348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49808" y="2377440"/>
            <a:ext cx="3218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22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Boarding occupancy below the 15→35 plan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49808" y="3017520"/>
            <a:ext cx="3218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against the retirement-care gap; costs scale with horse count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279392" y="1600200"/>
            <a:ext cx="3621024" cy="2148840"/>
          </a:xfrm>
          <a:prstGeom prst="roundRect">
            <a:avLst>
              <a:gd name="adj" fmla="val 2979"/>
            </a:avLst>
          </a:prstGeom>
          <a:solidFill>
            <a:srgbClr val="FFFFFF"/>
          </a:solidFill>
          <a:ln w="12700">
            <a:solidFill>
              <a:srgbClr val="E4DFC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480560" y="1801368"/>
            <a:ext cx="420624" cy="420624"/>
          </a:xfrm>
          <a:prstGeom prst="ellipse">
            <a:avLst/>
          </a:prstGeom>
          <a:solidFill>
            <a:srgbClr val="C24A78"/>
          </a:solidFill>
          <a:ln/>
        </p:spPr>
      </p:sp>
      <p:pic>
        <p:nvPicPr>
          <p:cNvPr id="11" name="Image 1" descr="/tmp/claude-0/-home-user-FarmDeApp/6acb5467-a921-52c6-8401-d505f26136ca/scratchpad/pptx_assets/warn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128" y="1914936"/>
            <a:ext cx="193487" cy="19348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480560" y="2377440"/>
            <a:ext cx="3218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22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Plot sales lag the owner's milestones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4480560" y="3017520"/>
            <a:ext cx="3218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shortfall terms in the partnership contract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8010144" y="1600200"/>
            <a:ext cx="3621024" cy="2148840"/>
          </a:xfrm>
          <a:prstGeom prst="roundRect">
            <a:avLst>
              <a:gd name="adj" fmla="val 2979"/>
            </a:avLst>
          </a:prstGeom>
          <a:solidFill>
            <a:srgbClr val="FFFFFF"/>
          </a:solidFill>
          <a:ln w="12700">
            <a:solidFill>
              <a:srgbClr val="E4DFC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211312" y="1801368"/>
            <a:ext cx="420624" cy="420624"/>
          </a:xfrm>
          <a:prstGeom prst="ellipse">
            <a:avLst/>
          </a:prstGeom>
          <a:solidFill>
            <a:srgbClr val="C24A78"/>
          </a:solidFill>
          <a:ln/>
        </p:spPr>
      </p:sp>
      <p:pic>
        <p:nvPicPr>
          <p:cNvPr id="16" name="Image 2" descr="/tmp/claude-0/-home-user-FarmDeApp/6acb5467-a921-52c6-8401-d505f26136ca/scratchpad/pptx_assets/warn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4880" y="1914936"/>
            <a:ext cx="193487" cy="19348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211312" y="2377440"/>
            <a:ext cx="3218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22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Infrastructure fronted before deposits arrive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8211312" y="3017520"/>
            <a:ext cx="3218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roads/utilities first; phase shared amenities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548640" y="3913632"/>
            <a:ext cx="3621024" cy="2148840"/>
          </a:xfrm>
          <a:prstGeom prst="roundRect">
            <a:avLst>
              <a:gd name="adj" fmla="val 2979"/>
            </a:avLst>
          </a:prstGeom>
          <a:solidFill>
            <a:srgbClr val="FFFFFF"/>
          </a:solidFill>
          <a:ln w="12700">
            <a:solidFill>
              <a:srgbClr val="E4DFCF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49808" y="4114800"/>
            <a:ext cx="420624" cy="420624"/>
          </a:xfrm>
          <a:prstGeom prst="ellipse">
            <a:avLst/>
          </a:prstGeom>
          <a:solidFill>
            <a:srgbClr val="C24A78"/>
          </a:solidFill>
          <a:ln/>
        </p:spPr>
      </p:sp>
      <p:pic>
        <p:nvPicPr>
          <p:cNvPr id="21" name="Image 3" descr="/tmp/claude-0/-home-user-FarmDeApp/6acb5467-a921-52c6-8401-d505f26136ca/scratchpad/pptx_assets/warnin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376" y="4228368"/>
            <a:ext cx="193487" cy="193487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49808" y="4690872"/>
            <a:ext cx="3218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22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SBT / resale tax worse than estimated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749808" y="5330952"/>
            <a:ext cx="3218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seller-of-record status with an accountant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4279392" y="3913632"/>
            <a:ext cx="3621024" cy="2148840"/>
          </a:xfrm>
          <a:prstGeom prst="roundRect">
            <a:avLst>
              <a:gd name="adj" fmla="val 2979"/>
            </a:avLst>
          </a:prstGeom>
          <a:solidFill>
            <a:srgbClr val="FFFFFF"/>
          </a:solidFill>
          <a:ln w="12700">
            <a:solidFill>
              <a:srgbClr val="E4DFCF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4480560" y="4114800"/>
            <a:ext cx="420624" cy="420624"/>
          </a:xfrm>
          <a:prstGeom prst="ellipse">
            <a:avLst/>
          </a:prstGeom>
          <a:solidFill>
            <a:srgbClr val="C24A78"/>
          </a:solidFill>
          <a:ln/>
        </p:spPr>
      </p:sp>
      <p:pic>
        <p:nvPicPr>
          <p:cNvPr id="26" name="Image 4" descr="/tmp/claude-0/-home-user-FarmDeApp/6acb5467-a921-52c6-8401-d505f26136ca/scratchpad/pptx_assets/warnin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94128" y="4228368"/>
            <a:ext cx="193487" cy="193487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4480560" y="4690872"/>
            <a:ext cx="3218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22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Vet-fee billing disputes with owners</a:t>
            </a:r>
            <a:endParaRPr lang="en-US" sz="1300" dirty="0"/>
          </a:p>
        </p:txBody>
      </p:sp>
      <p:sp>
        <p:nvSpPr>
          <p:cNvPr id="28" name="Text 21"/>
          <p:cNvSpPr txBox="1"/>
          <p:nvPr/>
        </p:nvSpPr>
        <p:spPr>
          <a:xfrm>
            <a:off x="4480560" y="5330952"/>
            <a:ext cx="3218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billing process in the standard boarding agreement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8010144" y="3913632"/>
            <a:ext cx="3621024" cy="2148840"/>
          </a:xfrm>
          <a:prstGeom prst="roundRect">
            <a:avLst>
              <a:gd name="adj" fmla="val 2979"/>
            </a:avLst>
          </a:prstGeom>
          <a:solidFill>
            <a:srgbClr val="FFFFFF"/>
          </a:solidFill>
          <a:ln w="12700">
            <a:solidFill>
              <a:srgbClr val="E4DFCF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8211312" y="4114800"/>
            <a:ext cx="420624" cy="420624"/>
          </a:xfrm>
          <a:prstGeom prst="ellipse">
            <a:avLst/>
          </a:prstGeom>
          <a:solidFill>
            <a:srgbClr val="C24A78"/>
          </a:solidFill>
          <a:ln/>
        </p:spPr>
      </p:sp>
      <p:pic>
        <p:nvPicPr>
          <p:cNvPr id="31" name="Image 5" descr="/tmp/claude-0/-home-user-FarmDeApp/6acb5467-a921-52c6-8401-d505f26136ca/scratchpad/pptx_assets/warnin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24880" y="4228368"/>
            <a:ext cx="193487" cy="193487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211312" y="4690872"/>
            <a:ext cx="3218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22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Flood damage</a:t>
            </a:r>
            <a:endParaRPr lang="en-US" sz="1300" dirty="0"/>
          </a:p>
        </p:txBody>
      </p:sp>
      <p:sp>
        <p:nvSpPr>
          <p:cNvPr id="33" name="Text 25"/>
          <p:cNvSpPr txBox="1"/>
          <p:nvPr/>
        </p:nvSpPr>
        <p:spPr>
          <a:xfrm>
            <a:off x="8211312" y="5330952"/>
            <a:ext cx="3218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flood-elevation data before finalizing placement</a:t>
            </a:r>
            <a:endParaRPr lang="en-US" sz="1050" dirty="0"/>
          </a:p>
        </p:txBody>
      </p:sp>
      <p:sp>
        <p:nvSpPr>
          <p:cNvPr id="34" name="Text 26"/>
          <p:cNvSpPr txBox="1"/>
          <p:nvPr/>
        </p:nvSpPr>
        <p:spPr>
          <a:xfrm>
            <a:off x="114300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5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TIMELINE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phases from due diligence to steady state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554480" y="2834640"/>
            <a:ext cx="9052560" cy="0"/>
          </a:xfrm>
          <a:prstGeom prst="line">
            <a:avLst/>
          </a:prstGeom>
          <a:noFill/>
          <a:ln w="25400">
            <a:solidFill>
              <a:srgbClr val="E4DFC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35608" y="2715768"/>
            <a:ext cx="237744" cy="237744"/>
          </a:xfrm>
          <a:prstGeom prst="ellipse">
            <a:avLst/>
          </a:prstGeom>
          <a:solidFill>
            <a:srgbClr val="2F6B4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14300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F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Now–Sep 2026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99032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22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Due diligence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92024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B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Re-survey, flood study, legal structure, deposit terms drafted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46120" y="2715768"/>
            <a:ext cx="237744" cy="237744"/>
          </a:xfrm>
          <a:prstGeom prst="ellipse">
            <a:avLst/>
          </a:prstGeom>
          <a:solidFill>
            <a:srgbClr val="8B5A2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359152" y="31546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B5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 2026–Apr 2027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2359152" y="3410712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22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Sanctuary land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2359152" y="39319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B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Deposit and balance paid; construction begins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056632" y="2715768"/>
            <a:ext cx="237744" cy="237744"/>
          </a:xfrm>
          <a:prstGeom prst="ellipse">
            <a:avLst/>
          </a:prstGeom>
          <a:solidFill>
            <a:srgbClr val="2F6B4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69664" y="114300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F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 2027–Oct 2028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169664" y="1399032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22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Development land + subdivision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169664" y="192024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B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milestones met from buyer proceeds; titling; infrastructure built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867144" y="2715768"/>
            <a:ext cx="237744" cy="237744"/>
          </a:xfrm>
          <a:prstGeom prst="ellipse">
            <a:avLst/>
          </a:prstGeom>
          <a:solidFill>
            <a:srgbClr val="8B5A2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980176" y="31546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B5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~Month 14–15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5980176" y="3410712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22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Sanctuary soft launch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5980176" y="39319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B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boarding horses move in; therapy specialist hired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8677656" y="2715768"/>
            <a:ext cx="237744" cy="237744"/>
          </a:xfrm>
          <a:prstGeom prst="ellipse">
            <a:avLst/>
          </a:prstGeom>
          <a:solidFill>
            <a:srgbClr val="2F6B4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90688" y="114300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F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2028–2029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7790688" y="1399032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22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Community fills in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7790688" y="192024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B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 sales close (boarding clients first); residents move in; amenities open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10488168" y="2715768"/>
            <a:ext cx="237744" cy="237744"/>
          </a:xfrm>
          <a:prstGeom prst="ellipse">
            <a:avLst/>
          </a:prstGeom>
          <a:solidFill>
            <a:srgbClr val="8B5A2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601200" y="31546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B5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2–5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9601200" y="3410712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22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Steady state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9601200" y="39319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B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 boarding population toward 35 horses &amp; therapy caseload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14300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5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Assumptions to verify before committing capital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2F6B4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67335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the partnership contract's exact terms in writing (milestones, shortfall consequences)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404872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2F6B45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4048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2386584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boarding occupancy assumptions (15→35 horses at ฿15,000/mo) against real local demand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118104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2F6B4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1181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3099816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the standard boarding service agreement, including vet-fee billing mechanics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3831336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2F6B4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313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3813048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Commission a formal land re-survey, including the 10/32-rai split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544568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2F6B4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5445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45262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SBT and transfer-fee treatment — and who is the seller of record — with an accountant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525780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2F6B4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5257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234440" y="523951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2–3 contractor quotes for the sanctuary buildings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14300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3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286000"/>
            <a:ext cx="5486400" cy="5486400"/>
          </a:xfrm>
          <a:prstGeom prst="ellipse">
            <a:avLst/>
          </a:prstGeom>
          <a:solidFill>
            <a:srgbClr val="234A34"/>
          </a:solidFill>
          <a:ln/>
        </p:spPr>
      </p:sp>
      <p:sp>
        <p:nvSpPr>
          <p:cNvPr id="3" name="Shape 1"/>
          <p:cNvSpPr/>
          <p:nvPr/>
        </p:nvSpPr>
        <p:spPr>
          <a:xfrm>
            <a:off x="5349240" y="1463040"/>
            <a:ext cx="914400" cy="914400"/>
          </a:xfrm>
          <a:prstGeom prst="ellipse">
            <a:avLst/>
          </a:prstGeom>
          <a:solidFill>
            <a:srgbClr val="C24A78"/>
          </a:solidFill>
          <a:ln/>
        </p:spPr>
      </p:sp>
      <p:pic>
        <p:nvPicPr>
          <p:cNvPr id="4" name="Image 0" descr="/tmp/claude-0/-home-user-FarmDeApp/6acb5467-a921-52c6-8401-d505f26136ca/scratchpad/pptx_assets/he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96128" y="1709928"/>
            <a:ext cx="420624" cy="42062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14400" y="265176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Let's build it together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FE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Angel Arms Horse Sanctuary  ·  มูลนิธิในอ้อมกอด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965960" y="493776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8FA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document is a planning tool. All figures are planning-level estimates — verify against the partnership contract, local appraisals, contractor quotes, and legal/tax advice before committing capital.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2026-09-08T13:30:29Z</dcterms:created>
  <dcterms:modified xsi:type="dcterms:W3CDTF">2026-09-08T13:30:29Z</dcterms:modified>
</cp:coreProperties>
</file>